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904d3c63134532" /><Relationship Type="http://schemas.openxmlformats.org/officeDocument/2006/relationships/extended-properties" Target="/docProps/app.xml" Id="Rf6bde9f5653540d7" /><Relationship Type="http://schemas.openxmlformats.org/officeDocument/2006/relationships/officeDocument" Target="/ppt/presentation.xml" Id="Raf2ffb4405f14876" /></Relationships>
</file>

<file path=ppt/presentation.xml><?xml version="1.0" encoding="utf-8"?>
<p:presentation xmlns:p="http://schemas.openxmlformats.org/presentationml/2006/main">
  <p:sldMasterIdLst>
    <p:sldMasterId xmlns:r="http://schemas.openxmlformats.org/officeDocument/2006/relationships" id="2147483648" r:id="R4ee2162545c14d77"/>
  </p:sldMasterIdLst>
  <p:notesMasterIdLst>
    <p:notesMasterId xmlns:r="http://schemas.openxmlformats.org/officeDocument/2006/relationships" r:id="R77de114e60714dc3"/>
  </p:notesMasterIdLst>
  <p:sldIdLst>
    <p:sldId xmlns:r="http://schemas.openxmlformats.org/officeDocument/2006/relationships" id="256" r:id="R5d53da08b3294165"/>
    <p:sldId xmlns:r="http://schemas.openxmlformats.org/officeDocument/2006/relationships" id="257" r:id="Rb52867c69a354a4e"/>
    <p:sldId xmlns:r="http://schemas.openxmlformats.org/officeDocument/2006/relationships" id="258" r:id="Ref0cfbed75e04da3"/>
    <p:sldId xmlns:r="http://schemas.openxmlformats.org/officeDocument/2006/relationships" id="259" r:id="R1f08bc2a05444a1a"/>
    <p:sldId xmlns:r="http://schemas.openxmlformats.org/officeDocument/2006/relationships" id="260" r:id="Rc05fadadc3dc4242"/>
    <p:sldId xmlns:r="http://schemas.openxmlformats.org/officeDocument/2006/relationships" id="261" r:id="R51606fea0a1747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fa1d2dd456448f" /><Relationship Type="http://schemas.openxmlformats.org/officeDocument/2006/relationships/slideMaster" Target="/ppt/slideMasters/slideMaster1.xml" Id="R4ee2162545c14d77" /><Relationship Type="http://schemas.openxmlformats.org/officeDocument/2006/relationships/notesMaster" Target="/ppt/notesMasters/notesMaster1.xml" Id="R77de114e60714dc3" /><Relationship Type="http://schemas.openxmlformats.org/officeDocument/2006/relationships/presProps" Target="/ppt/presProps.xml" Id="Rd0c483902bef4ae7" /><Relationship Type="http://schemas.openxmlformats.org/officeDocument/2006/relationships/tableStyles" Target="/ppt/tableStyles.xml" Id="R958da5db30054908" /><Relationship Type="http://schemas.openxmlformats.org/officeDocument/2006/relationships/slide" Target="/ppt/slides/slide1.xml" Id="R5d53da08b3294165" /><Relationship Type="http://schemas.openxmlformats.org/officeDocument/2006/relationships/slide" Target="/ppt/slides/slide2.xml" Id="Rb52867c69a354a4e" /><Relationship Type="http://schemas.openxmlformats.org/officeDocument/2006/relationships/slide" Target="/ppt/slides/slide3.xml" Id="Ref0cfbed75e04da3" /><Relationship Type="http://schemas.openxmlformats.org/officeDocument/2006/relationships/slide" Target="/ppt/slides/slide4.xml" Id="R1f08bc2a05444a1a" /><Relationship Type="http://schemas.openxmlformats.org/officeDocument/2006/relationships/slide" Target="/ppt/slides/slide5.xml" Id="Rc05fadadc3dc4242" /><Relationship Type="http://schemas.openxmlformats.org/officeDocument/2006/relationships/slide" Target="/ppt/slides/slide6.xml" Id="R51606fea0a1747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973bfec9b34e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a7b037e49f45fd" /><Relationship Type="http://schemas.openxmlformats.org/officeDocument/2006/relationships/notesMaster" Target="/ppt/notesMasters/notesMaster1.xml" Id="R47e85e77815c40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1c501925a04140" /><Relationship Type="http://schemas.openxmlformats.org/officeDocument/2006/relationships/notesMaster" Target="/ppt/notesMasters/notesMaster1.xml" Id="Ree032139d7e443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2f1789c2cb441c" /><Relationship Type="http://schemas.openxmlformats.org/officeDocument/2006/relationships/notesMaster" Target="/ppt/notesMasters/notesMaster1.xml" Id="R044ac03a31404d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ad0ee5333240ad" /><Relationship Type="http://schemas.openxmlformats.org/officeDocument/2006/relationships/notesMaster" Target="/ppt/notesMasters/notesMaster1.xml" Id="R679fc2b1292844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b95bc645d84967" /><Relationship Type="http://schemas.openxmlformats.org/officeDocument/2006/relationships/notesMaster" Target="/ppt/notesMasters/notesMaster1.xml" Id="Rb72cd963042240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d56db629ba47ba" /><Relationship Type="http://schemas.openxmlformats.org/officeDocument/2006/relationships/notesMaster" Target="/ppt/notesMasters/notesMaster1.xml" Id="Rf0eca6da416d40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SignalForge is a working prototype prepared with AI assistance. The bundled market evidence is invented and labeled synthetic. Official Meteora SDK 1.5.13 performs the real local curve calculations. No live API execution, adoption, prize or registration is claimed. Source: https://github.com/AIVensk/signalforge. Demo: https://aivensk.github.io/signalforge/.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is the product hypothesis. Demo assumptions and values come from examples/energy-launch.json and fixtures/panta-synthetic.json. Budgets are user-defined inputs, not forecasts. Panta list prices are null by contract; detail reads supply prices when RPC is available. Primary API references: https://docs.panta.market/api-reference/markets/list, https://docs.panta.market/api-reference/markets/get, https://docs.panta.market/api-reference/markets/trades.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reflects src/panta.ts, evidence.ts, dbc.ts, planner.ts and render.ts in https://github.com/AIVensk/signalforge. API reads use a fixed Panta origin and do not expose the key in reports. Meteora calculations use buildCurveWithMarketCap, buildCurveWithLiquidityWeights, validateConfigParameters and getQuoteFromInputAmount with PartialFill. The simulation connection rejects network calls. No wallet or transaction workflow exists. Official SDK: https://github.com/MeteoraAg/dynamic-bonding-curve-sdk.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values are from the verified synthetic demo report at https://aivensk.github.io/signalforge/report.json. All numerical execution values are real official SDK calculations on hypothetical inputs. Amounts retain six decimal places as provided by report outputs, while migration progress is rounded to one decimal. Gross used equals curve inflow plus trading/protocol fees. Requested input equals gross used plus unused input. Curves start from the same empty state and no post-migration execution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artifacts: https://github.com/AIVensk/signalforge/blob/main/review/test-results.txt and https://github.com/AIVensk/signalforge/blob/main/review/replay-verification.txt. 23 tests passed in the delivered version. Runtime Node 26.10.0, npm 12.1.0, TypeScript 5.9.2. Browser checks exercised the two chart modes, scenario disclosure and desktop layout. Synthetic Panta contract tests do not establish a successful live API integration. No claim of tests in PowerPoint or on mainnet.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live Panta capture, mainnet deployment, adoption, contest registration, submission, award or payout is claimed. The user must personally confirm eligibility and submit. Panta and Meteora both have HUMAN_ONLY records, while Superteam agent rules allow agent submissions only for AGENT_ALLOWED or AGENT_ONLY: https://superteam.fun/earn/agents. Colosseum rules define entrants as natural persons and allow one team and one project at a time: https://colosseum.com/legal/Crypto%20World%27s%20Fair%20Hackathon%20Rules.pdf. Both audited track deadlines: 2026-10-13 06:59 UTC. Listings: https://superteam.fun/earn/listing/panta-api-side-track/ and https://superteam.fun/earn/listing/meteora-dbc/. A public code/demo link is not registration or acceptance. No new project license is granted by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6f0dde92f840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d27e992e904bbc" /><Relationship Type="http://schemas.openxmlformats.org/officeDocument/2006/relationships/slideLayout" Target="/ppt/slideLayouts/slideLayout1.xml" Id="Re8d8732d0d9c4f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d8732d0d9c4f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2453ee7cbb494a" /><Relationship Type="http://schemas.openxmlformats.org/officeDocument/2006/relationships/notesSlide" Target="/ppt/notesSlides/notesSlide1.xml" Id="R842549a0f2c043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7df83eb03148cb" /><Relationship Type="http://schemas.openxmlformats.org/officeDocument/2006/relationships/notesSlide" Target="/ppt/notesSlides/notesSlide2.xml" Id="Rd8d79837d4df40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20d94d04ad4a00" /><Relationship Type="http://schemas.openxmlformats.org/officeDocument/2006/relationships/notesSlide" Target="/ppt/notesSlides/notesSlide3.xml" Id="R357fea7d68ef49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dc3b089486437d" /><Relationship Type="http://schemas.openxmlformats.org/officeDocument/2006/relationships/notesSlide" Target="/ppt/notesSlides/notesSlide4.xml" Id="Re46e4681e00b48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0de955f7374c3f" /><Relationship Type="http://schemas.openxmlformats.org/officeDocument/2006/relationships/notesSlide" Target="/ppt/notesSlides/notesSlide5.xml" Id="R05c29c6a1b444a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751d25f5764ba5" /><Relationship Type="http://schemas.openxmlformats.org/officeDocument/2006/relationships/notesSlide" Target="/ppt/notesSlides/notesSlide6.xml" Id="R05e22f47ca6348f9" /></Relationships>
</file>

<file path=ppt/slides/slide1.xml><?xml version="1.0" encoding="utf-8"?>
<p:sld xmlns:p="http://schemas.openxmlformats.org/presentationml/2006/main">
  <p:cSld>
    <p:bg>
      <p:bgPr>
        <a:solidFill xmlns:a="http://schemas.openxmlformats.org/drawingml/2006/main">
          <a:srgbClr val="102E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6E515B-C5D2-4E75-B590-7DF20F6A0603}"/>
              </a:ext>
            </a:extLst>
          </p:cNvPr>
          <p:cNvSpPr>
            <a:spLocks xmlns:a="http://schemas.openxmlformats.org/drawingml/2006/main" noGrp="1"/>
          </p:cNvSpPr>
          <p:nvPr/>
        </p:nvSpPr>
        <p:spPr>
          <a:xfrm xmlns:a="http://schemas.openxmlformats.org/drawingml/2006/main">
            <a:off x="10668000" y="622935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A8BDC8"/>
                </a:solidFill>
                <a:latin typeface="Adwaita Sans"/>
                <a:ea typeface="Adwaita Sans"/>
                <a:cs typeface="Adwaita Sans"/>
              </a:defRPr>
            </a:pPr>
            <a:r>
              <a:rPr sz="1350" b="0">
                <a:solidFill>
                  <a:srgbClr val="A8BDC8"/>
                </a:solidFill>
                <a:latin typeface="Adwaita Sans"/>
                <a:ea typeface="Adwaita Sans"/>
                <a:cs typeface="Adwaita Sans"/>
              </a:rPr>
              <a:t>1 / 6</a:t>
            </a:r>
          </a:p>
        </p:txBody>
      </p:sp>
      <p:sp>
        <p:nvSpPr>
          <p:cNvPr id="2" name="">
            <a:extLst xmlns:a="http://schemas.openxmlformats.org/drawingml/2006/main">
              <a:ext uri="{FF2B5EF4-FFF2-40B4-BE49-F238E27FC236}">
                <a16:creationId xmlns:a16="http://schemas.microsoft.com/office/drawing/2014/main" id="{C4F73103-357E-4661-BBF3-7AC709CCE96B}"/>
              </a:ext>
            </a:extLst>
          </p:cNvPr>
          <p:cNvSpPr>
            <a:spLocks xmlns:a="http://schemas.openxmlformats.org/drawingml/2006/main" noGrp="1"/>
          </p:cNvSpPr>
          <p:nvPr/>
        </p:nvSpPr>
        <p:spPr>
          <a:xfrm xmlns:a="http://schemas.openxmlformats.org/drawingml/2006/main">
            <a:off x="609600" y="62293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A8BDC8"/>
                </a:solidFill>
                <a:latin typeface="Adwaita Sans"/>
                <a:ea typeface="Adwaita Sans"/>
                <a:cs typeface="Adwaita Sans"/>
              </a:defRPr>
            </a:pPr>
            <a:r>
              <a:rPr sz="1350" b="0">
                <a:solidFill>
                  <a:srgbClr val="A8BDC8"/>
                </a:solidFill>
                <a:latin typeface="Adwaita Sans"/>
                <a:ea typeface="Adwaita Sans"/>
                <a:cs typeface="Adwaita Sans"/>
              </a:rPr>
              <a:t>SignalForge</a:t>
            </a:r>
          </a:p>
        </p:txBody>
      </p:sp>
      <p:sp>
        <p:nvSpPr>
          <p:cNvPr id="3" name="">
            <a:extLst xmlns:a="http://schemas.openxmlformats.org/drawingml/2006/main">
              <a:ext uri="{FF2B5EF4-FFF2-40B4-BE49-F238E27FC236}">
                <a16:creationId xmlns:a16="http://schemas.microsoft.com/office/drawing/2014/main" id="{8D29680C-6CF1-42C5-8AA2-9AEDAE0672E5}"/>
              </a:ext>
            </a:extLst>
          </p:cNvPr>
          <p:cNvSpPr>
            <a:spLocks xmlns:a="http://schemas.openxmlformats.org/drawingml/2006/main" noGrp="1"/>
          </p:cNvSpPr>
          <p:nvPr/>
        </p:nvSpPr>
        <p:spPr>
          <a:xfrm xmlns:a="http://schemas.openxmlformats.org/drawingml/2006/main">
            <a:off x="609600" y="1457325"/>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600" b="1">
                <a:solidFill>
                  <a:srgbClr val="FFFFFF"/>
                </a:solidFill>
                <a:latin typeface="Adwaita Sans"/>
                <a:ea typeface="Adwaita Sans"/>
                <a:cs typeface="Adwaita Sans"/>
              </a:defRPr>
            </a:pPr>
            <a:r>
              <a:rPr sz="6600" b="1">
                <a:solidFill>
                  <a:srgbClr val="FFFFFF"/>
                </a:solidFill>
                <a:latin typeface="Adwaita Sans"/>
                <a:ea typeface="Adwaita Sans"/>
                <a:cs typeface="Adwaita Sans"/>
              </a:rPr>
              <a:t>SignalForge</a:t>
            </a:r>
          </a:p>
        </p:txBody>
      </p:sp>
      <p:sp>
        <p:nvSpPr>
          <p:cNvPr id="4" name="">
            <a:extLst xmlns:a="http://schemas.openxmlformats.org/drawingml/2006/main">
              <a:ext uri="{FF2B5EF4-FFF2-40B4-BE49-F238E27FC236}">
                <a16:creationId xmlns:a16="http://schemas.microsoft.com/office/drawing/2014/main" id="{136EEE0E-BBB5-45B2-BCA2-50D6AB744D7F}"/>
              </a:ext>
            </a:extLst>
          </p:cNvPr>
          <p:cNvSpPr>
            <a:spLocks xmlns:a="http://schemas.openxmlformats.org/drawingml/2006/main" noGrp="1"/>
          </p:cNvSpPr>
          <p:nvPr/>
        </p:nvSpPr>
        <p:spPr>
          <a:xfrm xmlns:a="http://schemas.openxmlformats.org/drawingml/2006/main">
            <a:off x="609600" y="2809875"/>
            <a:ext cx="1000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0">
                <a:solidFill>
                  <a:srgbClr val="D0E2EB"/>
                </a:solidFill>
                <a:latin typeface="Adwaita Sans"/>
                <a:ea typeface="Adwaita Sans"/>
                <a:cs typeface="Adwaita Sans"/>
              </a:defRPr>
            </a:pPr>
            <a:r>
              <a:rPr sz="3225" b="0">
                <a:solidFill>
                  <a:srgbClr val="D0E2EB"/>
                </a:solidFill>
                <a:latin typeface="Adwaita Sans"/>
                <a:ea typeface="Adwaita Sans"/>
                <a:cs typeface="Adwaita Sans"/>
              </a:rPr>
              <a:t>Prediction-market evidence for</a:t>
            </a:r>
          </a:p>
          <a:p xmlns:a="http://schemas.openxmlformats.org/drawingml/2006/main">
            <a:pPr>
              <a:defRPr sz="3225" b="0">
                <a:solidFill>
                  <a:srgbClr val="D0E2EB"/>
                </a:solidFill>
                <a:latin typeface="Adwaita Sans"/>
                <a:ea typeface="Adwaita Sans"/>
                <a:cs typeface="Adwaita Sans"/>
              </a:defRPr>
            </a:pPr>
            <a:r>
              <a:rPr sz="3225" b="0">
                <a:solidFill>
                  <a:srgbClr val="D0E2EB"/>
                </a:solidFill>
                <a:latin typeface="Adwaita Sans"/>
                <a:ea typeface="Adwaita Sans"/>
                <a:cs typeface="Adwaita Sans"/>
              </a:rPr>
              <a:t>bonding-curve rehearsal</a:t>
            </a:r>
          </a:p>
        </p:txBody>
      </p:sp>
      <p:sp>
        <p:nvSpPr>
          <p:cNvPr id="5" name="">
            <a:extLst xmlns:a="http://schemas.openxmlformats.org/drawingml/2006/main">
              <a:ext uri="{FF2B5EF4-FFF2-40B4-BE49-F238E27FC236}">
                <a16:creationId xmlns:a16="http://schemas.microsoft.com/office/drawing/2014/main" id="{110BA925-0028-41AC-B0D6-3FB26CA59738}"/>
              </a:ext>
            </a:extLst>
          </p:cNvPr>
          <p:cNvSpPr>
            <a:spLocks xmlns:a="http://schemas.openxmlformats.org/drawingml/2006/main" noGrp="1"/>
          </p:cNvSpPr>
          <p:nvPr/>
        </p:nvSpPr>
        <p:spPr>
          <a:xfrm xmlns:a="http://schemas.openxmlformats.org/drawingml/2006/main">
            <a:off x="609600" y="44196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A8BDC8"/>
                </a:solidFill>
                <a:latin typeface="Adwaita Sans"/>
                <a:ea typeface="Adwaita Sans"/>
                <a:cs typeface="Adwaita Sans"/>
              </a:defRPr>
            </a:pPr>
            <a:r>
              <a:rPr sz="1950" b="0">
                <a:solidFill>
                  <a:srgbClr val="A8BDC8"/>
                </a:solidFill>
                <a:latin typeface="Adwaita Sans"/>
                <a:ea typeface="Adwaita Sans"/>
                <a:cs typeface="Adwaita Sans"/>
              </a:rPr>
              <a:t>Working prototype for the Panta and Meteora sidetracks</a:t>
            </a:r>
          </a:p>
        </p:txBody>
      </p:sp>
      <p:sp>
        <p:nvSpPr>
          <p:cNvPr id="6" name="">
            <a:extLst xmlns:a="http://schemas.openxmlformats.org/drawingml/2006/main">
              <a:ext uri="{FF2B5EF4-FFF2-40B4-BE49-F238E27FC236}">
                <a16:creationId xmlns:a16="http://schemas.microsoft.com/office/drawing/2014/main" id="{4EA43753-2E37-48FD-ADAB-A14568DFB380}"/>
              </a:ext>
            </a:extLst>
          </p:cNvPr>
          <p:cNvSpPr>
            <a:spLocks xmlns:a="http://schemas.openxmlformats.org/drawingml/2006/main" noGrp="1"/>
          </p:cNvSpPr>
          <p:nvPr/>
        </p:nvSpPr>
        <p:spPr>
          <a:xfrm xmlns:a="http://schemas.openxmlformats.org/drawingml/2006/main">
            <a:off x="609600" y="519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F3CB8C"/>
                </a:solidFill>
                <a:latin typeface="Adwaita Sans"/>
                <a:ea typeface="Adwaita Sans"/>
                <a:cs typeface="Adwaita Sans"/>
              </a:defRPr>
            </a:pPr>
            <a:r>
              <a:rPr sz="1725" b="1">
                <a:solidFill>
                  <a:srgbClr val="F3CB8C"/>
                </a:solidFill>
                <a:latin typeface="Adwaita Sans"/>
                <a:ea typeface="Adwaita Sans"/>
                <a:cs typeface="Adwaita Sans"/>
              </a:rPr>
              <a:t>SYNTHETIC PANTA DATA  /  REAL METEORA SDK CALCULATIONS</a:t>
            </a:r>
          </a:p>
        </p:txBody>
      </p:sp>
    </p:spTree>
    <p:extLst>
      <p:ext uri="{BB962C8B-B14F-4D97-AF65-F5344CB8AC3E}">
        <p14:creationId xmlns:p14="http://schemas.microsoft.com/office/powerpoint/2010/main" val="18007003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B9BC69-BD41-477A-AA8B-97C18AB576F7}"/>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43445"/>
                </a:solidFill>
                <a:latin typeface="Adwaita Sans"/>
                <a:ea typeface="Adwaita Sans"/>
                <a:cs typeface="Adwaita Sans"/>
              </a:defRPr>
            </a:pPr>
            <a:r>
              <a:rPr sz="3300" b="1">
                <a:solidFill>
                  <a:srgbClr val="143445"/>
                </a:solidFill>
                <a:latin typeface="Adwaita Sans"/>
                <a:ea typeface="Adwaita Sans"/>
                <a:cs typeface="Adwaita Sans"/>
              </a:rPr>
              <a:t>Evidence and budget assumptions</a:t>
            </a:r>
          </a:p>
        </p:txBody>
      </p:sp>
      <p:sp>
        <p:nvSpPr>
          <p:cNvPr id="2" name="">
            <a:extLst xmlns:a="http://schemas.openxmlformats.org/drawingml/2006/main">
              <a:ext uri="{FF2B5EF4-FFF2-40B4-BE49-F238E27FC236}">
                <a16:creationId xmlns:a16="http://schemas.microsoft.com/office/drawing/2014/main" id="{9C4BFCD3-D740-45D4-A09C-8002E9D1266D}"/>
              </a:ext>
            </a:extLst>
          </p:cNvPr>
          <p:cNvSpPr>
            <a:spLocks xmlns:a="http://schemas.openxmlformats.org/drawingml/2006/main" noGrp="1"/>
          </p:cNvSpPr>
          <p:nvPr/>
        </p:nvSpPr>
        <p:spPr>
          <a:xfrm xmlns:a="http://schemas.openxmlformats.org/drawingml/2006/main">
            <a:off x="10668000" y="622935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2 / 6</a:t>
            </a:r>
          </a:p>
        </p:txBody>
      </p:sp>
      <p:sp>
        <p:nvSpPr>
          <p:cNvPr id="3" name="">
            <a:extLst xmlns:a="http://schemas.openxmlformats.org/drawingml/2006/main">
              <a:ext uri="{FF2B5EF4-FFF2-40B4-BE49-F238E27FC236}">
                <a16:creationId xmlns:a16="http://schemas.microsoft.com/office/drawing/2014/main" id="{98E9D8CB-1097-4DC2-8D24-E7659C44C273}"/>
              </a:ext>
            </a:extLst>
          </p:cNvPr>
          <p:cNvSpPr>
            <a:spLocks xmlns:a="http://schemas.openxmlformats.org/drawingml/2006/main" noGrp="1"/>
          </p:cNvSpPr>
          <p:nvPr/>
        </p:nvSpPr>
        <p:spPr>
          <a:xfrm xmlns:a="http://schemas.openxmlformats.org/drawingml/2006/main">
            <a:off x="609600" y="62293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SignalForge</a:t>
            </a:r>
          </a:p>
        </p:txBody>
      </p:sp>
      <p:sp>
        <p:nvSpPr>
          <p:cNvPr id="4" name="">
            <a:extLst xmlns:a="http://schemas.openxmlformats.org/drawingml/2006/main">
              <a:ext uri="{FF2B5EF4-FFF2-40B4-BE49-F238E27FC236}">
                <a16:creationId xmlns:a16="http://schemas.microsoft.com/office/drawing/2014/main" id="{D24D0A21-ED32-41E4-BDA6-A85B448D7562}"/>
              </a:ext>
            </a:extLst>
          </p:cNvPr>
          <p:cNvSpPr>
            <a:spLocks xmlns:a="http://schemas.openxmlformats.org/drawingml/2006/main" noGrp="1"/>
          </p:cNvSpPr>
          <p:nvPr/>
        </p:nvSpPr>
        <p:spPr>
          <a:xfrm xmlns:a="http://schemas.openxmlformats.org/drawingml/2006/main">
            <a:off x="609600" y="15621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5C737F"/>
                </a:solidFill>
                <a:latin typeface="Adwaita Sans"/>
                <a:ea typeface="Adwaita Sans"/>
                <a:cs typeface="Adwaita Sans"/>
              </a:defRPr>
            </a:pPr>
            <a:r>
              <a:rPr sz="2175" b="0">
                <a:solidFill>
                  <a:srgbClr val="5C737F"/>
                </a:solidFill>
                <a:latin typeface="Adwaita Sans"/>
                <a:ea typeface="Adwaita Sans"/>
                <a:cs typeface="Adwaita Sans"/>
              </a:rPr>
              <a:t>Launch teams need to see how their assumptions change actual fills.</a:t>
            </a:r>
          </a:p>
        </p:txBody>
      </p:sp>
      <p:sp>
        <p:nvSpPr>
          <p:cNvPr id="5" name="">
            <a:extLst xmlns:a="http://schemas.openxmlformats.org/drawingml/2006/main">
              <a:ext uri="{FF2B5EF4-FFF2-40B4-BE49-F238E27FC236}">
                <a16:creationId xmlns:a16="http://schemas.microsoft.com/office/drawing/2014/main" id="{6AB1A43C-1F2B-4CAC-A5AB-CC7C33496BEE}"/>
              </a:ext>
            </a:extLst>
          </p:cNvPr>
          <p:cNvSpPr>
            <a:spLocks xmlns:a="http://schemas.openxmlformats.org/drawingml/2006/main" noGrp="1"/>
          </p:cNvSpPr>
          <p:nvPr/>
        </p:nvSpPr>
        <p:spPr>
          <a:xfrm xmlns:a="http://schemas.openxmlformats.org/drawingml/2006/main">
            <a:off x="609600" y="25050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68D70"/>
                </a:solidFill>
                <a:latin typeface="Adwaita Sans"/>
                <a:ea typeface="Adwaita Sans"/>
                <a:cs typeface="Adwaita Sans"/>
              </a:defRPr>
            </a:pPr>
            <a:r>
              <a:rPr sz="2475" b="1">
                <a:solidFill>
                  <a:srgbClr val="168D70"/>
                </a:solidFill>
                <a:latin typeface="Adwaita Sans"/>
                <a:ea typeface="Adwaita Sans"/>
                <a:cs typeface="Adwaita Sans"/>
              </a:rPr>
              <a:t>Market evidence</a:t>
            </a:r>
          </a:p>
        </p:txBody>
      </p:sp>
      <p:sp>
        <p:nvSpPr>
          <p:cNvPr id="6" name="">
            <a:extLst xmlns:a="http://schemas.openxmlformats.org/drawingml/2006/main">
              <a:ext uri="{FF2B5EF4-FFF2-40B4-BE49-F238E27FC236}">
                <a16:creationId xmlns:a16="http://schemas.microsoft.com/office/drawing/2014/main" id="{1145E28C-2AF7-439C-94F0-EA8A1961A184}"/>
              </a:ext>
            </a:extLst>
          </p:cNvPr>
          <p:cNvSpPr>
            <a:spLocks xmlns:a="http://schemas.openxmlformats.org/drawingml/2006/main" noGrp="1"/>
          </p:cNvSpPr>
          <p:nvPr/>
        </p:nvSpPr>
        <p:spPr>
          <a:xfrm xmlns:a="http://schemas.openxmlformats.org/drawingml/2006/main">
            <a:off x="609600" y="3162300"/>
            <a:ext cx="48196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3445"/>
                </a:solidFill>
                <a:latin typeface="Adwaita Sans"/>
                <a:ea typeface="Adwaita Sans"/>
                <a:cs typeface="Adwaita Sans"/>
              </a:defRPr>
            </a:pPr>
            <a:r>
              <a:rPr sz="2100" b="0">
                <a:solidFill>
                  <a:srgbClr val="143445"/>
                </a:solidFill>
                <a:latin typeface="Adwaita Sans"/>
                <a:ea typeface="Adwaita Sans"/>
                <a:cs typeface="Adwaita Sans"/>
              </a:rPr>
              <a:t>Panta detail and recent trades</a:t>
            </a:r>
          </a:p>
          <a:p xmlns:a="http://schemas.openxmlformats.org/drawingml/2006/main">
            <a:pPr>
              <a:defRPr sz="2100" b="0">
                <a:solidFill>
                  <a:srgbClr val="143445"/>
                </a:solidFill>
                <a:latin typeface="Adwaita Sans"/>
                <a:ea typeface="Adwaita Sans"/>
                <a:cs typeface="Adwaita Sans"/>
              </a:defRPr>
            </a:pPr>
            <a:r>
              <a:rPr sz="2100" b="0">
                <a:solidFill>
                  <a:srgbClr val="143445"/>
                </a:solidFill>
                <a:latin typeface="Adwaita Sans"/>
                <a:ea typeface="Adwaita Sans"/>
                <a:cs typeface="Adwaita Sans"/>
              </a:rPr>
              <a:t>Freshness and activity checks</a:t>
            </a:r>
          </a:p>
          <a:p xmlns:a="http://schemas.openxmlformats.org/drawingml/2006/main">
            <a:pPr>
              <a:defRPr sz="2100" b="0">
                <a:solidFill>
                  <a:srgbClr val="143445"/>
                </a:solidFill>
                <a:latin typeface="Adwaita Sans"/>
                <a:ea typeface="Adwaita Sans"/>
                <a:cs typeface="Adwaita Sans"/>
              </a:defRPr>
            </a:pPr>
            <a:r>
              <a:rPr sz="2100" b="0">
                <a:solidFill>
                  <a:srgbClr val="143445"/>
                </a:solidFill>
                <a:latin typeface="Adwaita Sans"/>
                <a:ea typeface="Adwaita Sans"/>
                <a:cs typeface="Adwaita Sans"/>
              </a:rPr>
              <a:t>Missing prices stay visible</a:t>
            </a:r>
          </a:p>
        </p:txBody>
      </p:sp>
      <p:sp>
        <p:nvSpPr>
          <p:cNvPr id="7" name="">
            <a:extLst xmlns:a="http://schemas.openxmlformats.org/drawingml/2006/main">
              <a:ext uri="{FF2B5EF4-FFF2-40B4-BE49-F238E27FC236}">
                <a16:creationId xmlns:a16="http://schemas.microsoft.com/office/drawing/2014/main" id="{53239B3B-6024-49A9-A437-961634B77E46}"/>
              </a:ext>
            </a:extLst>
          </p:cNvPr>
          <p:cNvSpPr>
            <a:spLocks xmlns:a="http://schemas.openxmlformats.org/drawingml/2006/main" noGrp="1"/>
          </p:cNvSpPr>
          <p:nvPr/>
        </p:nvSpPr>
        <p:spPr>
          <a:xfrm xmlns:a="http://schemas.openxmlformats.org/drawingml/2006/main">
            <a:off x="6419850" y="25050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68D70"/>
                </a:solidFill>
                <a:latin typeface="Adwaita Sans"/>
                <a:ea typeface="Adwaita Sans"/>
                <a:cs typeface="Adwaita Sans"/>
              </a:defRPr>
            </a:pPr>
            <a:r>
              <a:rPr sz="2475" b="1">
                <a:solidFill>
                  <a:srgbClr val="168D70"/>
                </a:solidFill>
                <a:latin typeface="Adwaita Sans"/>
                <a:ea typeface="Adwaita Sans"/>
                <a:cs typeface="Adwaita Sans"/>
              </a:rPr>
              <a:t>Operator assumptions</a:t>
            </a:r>
          </a:p>
        </p:txBody>
      </p:sp>
      <p:sp>
        <p:nvSpPr>
          <p:cNvPr id="8" name="">
            <a:extLst xmlns:a="http://schemas.openxmlformats.org/drawingml/2006/main">
              <a:ext uri="{FF2B5EF4-FFF2-40B4-BE49-F238E27FC236}">
                <a16:creationId xmlns:a16="http://schemas.microsoft.com/office/drawing/2014/main" id="{7D4AC4E3-8214-42E4-B745-DA8B9FFB8E45}"/>
              </a:ext>
            </a:extLst>
          </p:cNvPr>
          <p:cNvSpPr>
            <a:spLocks xmlns:a="http://schemas.openxmlformats.org/drawingml/2006/main" noGrp="1"/>
          </p:cNvSpPr>
          <p:nvPr/>
        </p:nvSpPr>
        <p:spPr>
          <a:xfrm xmlns:a="http://schemas.openxmlformats.org/drawingml/2006/main">
            <a:off x="6419850" y="316230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3445"/>
                </a:solidFill>
                <a:latin typeface="Adwaita Sans"/>
                <a:ea typeface="Adwaita Sans"/>
                <a:cs typeface="Adwaita Sans"/>
              </a:defRPr>
            </a:pPr>
            <a:r>
              <a:rPr sz="2100" b="0">
                <a:solidFill>
                  <a:srgbClr val="143445"/>
                </a:solidFill>
                <a:latin typeface="Adwaita Sans"/>
                <a:ea typeface="Adwaita Sans"/>
                <a:cs typeface="Adwaita Sans"/>
              </a:rPr>
              <a:t>YES outcome budget: 40,000 USDC</a:t>
            </a:r>
          </a:p>
          <a:p xmlns:a="http://schemas.openxmlformats.org/drawingml/2006/main">
            <a:pPr>
              <a:defRPr sz="2100" b="0">
                <a:solidFill>
                  <a:srgbClr val="143445"/>
                </a:solidFill>
                <a:latin typeface="Adwaita Sans"/>
                <a:ea typeface="Adwaita Sans"/>
                <a:cs typeface="Adwaita Sans"/>
              </a:defRPr>
            </a:pPr>
            <a:r>
              <a:rPr sz="2100" b="0">
                <a:solidFill>
                  <a:srgbClr val="143445"/>
                </a:solidFill>
                <a:latin typeface="Adwaita Sans"/>
                <a:ea typeface="Adwaita Sans"/>
                <a:cs typeface="Adwaita Sans"/>
              </a:rPr>
              <a:t>NO outcome budget: 8,000 USDC</a:t>
            </a:r>
          </a:p>
          <a:p xmlns:a="http://schemas.openxmlformats.org/drawingml/2006/main">
            <a:pPr>
              <a:defRPr sz="2100" b="0">
                <a:solidFill>
                  <a:srgbClr val="143445"/>
                </a:solidFill>
                <a:latin typeface="Adwaita Sans"/>
                <a:ea typeface="Adwaita Sans"/>
                <a:cs typeface="Adwaita Sans"/>
              </a:defRPr>
            </a:pPr>
            <a:r>
              <a:rPr sz="2100" b="0">
                <a:solidFill>
                  <a:srgbClr val="143445"/>
                </a:solidFill>
                <a:latin typeface="Adwaita Sans"/>
                <a:ea typeface="Adwaita Sans"/>
                <a:cs typeface="Adwaita Sans"/>
              </a:rPr>
              <a:t>A stated reason links event and launch</a:t>
            </a:r>
          </a:p>
        </p:txBody>
      </p:sp>
      <p:sp>
        <p:nvSpPr>
          <p:cNvPr id="9" name="">
            <a:extLst xmlns:a="http://schemas.openxmlformats.org/drawingml/2006/main">
              <a:ext uri="{FF2B5EF4-FFF2-40B4-BE49-F238E27FC236}">
                <a16:creationId xmlns:a16="http://schemas.microsoft.com/office/drawing/2014/main" id="{70A551EA-A816-41A9-9179-0EF54E6C5BB7}"/>
              </a:ext>
            </a:extLst>
          </p:cNvPr>
          <p:cNvSpPr>
            <a:spLocks xmlns:a="http://schemas.openxmlformats.org/drawingml/2006/main" noGrp="1"/>
          </p:cNvSpPr>
          <p:nvPr/>
        </p:nvSpPr>
        <p:spPr>
          <a:xfrm xmlns:a="http://schemas.openxmlformats.org/drawingml/2006/main">
            <a:off x="609600" y="52197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9D5E16"/>
                </a:solidFill>
                <a:latin typeface="Adwaita Sans"/>
                <a:ea typeface="Adwaita Sans"/>
                <a:cs typeface="Adwaita Sans"/>
              </a:defRPr>
            </a:pPr>
            <a:r>
              <a:rPr sz="1875" b="1">
                <a:solidFill>
                  <a:srgbClr val="9D5E16"/>
                </a:solidFill>
                <a:latin typeface="Adwaita Sans"/>
                <a:ea typeface="Adwaita Sans"/>
                <a:cs typeface="Adwaita Sans"/>
              </a:rPr>
              <a:t>The demo invents the event and its activity. Market prices cannot establish token demand.</a:t>
            </a:r>
          </a:p>
        </p:txBody>
      </p:sp>
    </p:spTree>
    <p:extLst>
      <p:ext uri="{BB962C8B-B14F-4D97-AF65-F5344CB8AC3E}">
        <p14:creationId xmlns:p14="http://schemas.microsoft.com/office/powerpoint/2010/main" val="10269192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0CFCDC0-C839-46AC-9EBF-730CFB3681E8}"/>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43445"/>
                </a:solidFill>
                <a:latin typeface="Adwaita Sans"/>
                <a:ea typeface="Adwaita Sans"/>
                <a:cs typeface="Adwaita Sans"/>
              </a:defRPr>
            </a:pPr>
            <a:r>
              <a:rPr sz="3300" b="1">
                <a:solidFill>
                  <a:srgbClr val="143445"/>
                </a:solidFill>
                <a:latin typeface="Adwaita Sans"/>
                <a:ea typeface="Adwaita Sans"/>
                <a:cs typeface="Adwaita Sans"/>
              </a:rPr>
              <a:t>Panta evidence and Meteora execution</a:t>
            </a:r>
          </a:p>
        </p:txBody>
      </p:sp>
      <p:sp>
        <p:nvSpPr>
          <p:cNvPr id="2" name="">
            <a:extLst xmlns:a="http://schemas.openxmlformats.org/drawingml/2006/main">
              <a:ext uri="{FF2B5EF4-FFF2-40B4-BE49-F238E27FC236}">
                <a16:creationId xmlns:a16="http://schemas.microsoft.com/office/drawing/2014/main" id="{D5573F50-77C4-48F0-84CF-E2B3F81835B2}"/>
              </a:ext>
            </a:extLst>
          </p:cNvPr>
          <p:cNvSpPr>
            <a:spLocks xmlns:a="http://schemas.openxmlformats.org/drawingml/2006/main" noGrp="1"/>
          </p:cNvSpPr>
          <p:nvPr/>
        </p:nvSpPr>
        <p:spPr>
          <a:xfrm xmlns:a="http://schemas.openxmlformats.org/drawingml/2006/main">
            <a:off x="10668000" y="622935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3 / 6</a:t>
            </a:r>
          </a:p>
        </p:txBody>
      </p:sp>
      <p:sp>
        <p:nvSpPr>
          <p:cNvPr id="3" name="">
            <a:extLst xmlns:a="http://schemas.openxmlformats.org/drawingml/2006/main">
              <a:ext uri="{FF2B5EF4-FFF2-40B4-BE49-F238E27FC236}">
                <a16:creationId xmlns:a16="http://schemas.microsoft.com/office/drawing/2014/main" id="{69842BE9-E59D-4784-AECF-7435FEC62082}"/>
              </a:ext>
            </a:extLst>
          </p:cNvPr>
          <p:cNvSpPr>
            <a:spLocks xmlns:a="http://schemas.openxmlformats.org/drawingml/2006/main" noGrp="1"/>
          </p:cNvSpPr>
          <p:nvPr/>
        </p:nvSpPr>
        <p:spPr>
          <a:xfrm xmlns:a="http://schemas.openxmlformats.org/drawingml/2006/main">
            <a:off x="609600" y="62293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SignalForge</a:t>
            </a:r>
          </a:p>
        </p:txBody>
      </p:sp>
      <p:sp>
        <p:nvSpPr>
          <p:cNvPr id="4" name="">
            <a:extLst xmlns:a="http://schemas.openxmlformats.org/drawingml/2006/main">
              <a:ext uri="{FF2B5EF4-FFF2-40B4-BE49-F238E27FC236}">
                <a16:creationId xmlns:a16="http://schemas.microsoft.com/office/drawing/2014/main" id="{72872CAB-F0F2-4CBE-96BD-CBDC3FD168DD}"/>
              </a:ext>
            </a:extLst>
          </p:cNvPr>
          <p:cNvSpPr>
            <a:spLocks xmlns:a="http://schemas.openxmlformats.org/drawingml/2006/main" noGrp="1"/>
          </p:cNvSpPr>
          <p:nvPr/>
        </p:nvSpPr>
        <p:spPr>
          <a:xfrm xmlns:a="http://schemas.openxmlformats.org/drawingml/2006/main">
            <a:off x="609600" y="18859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68D70"/>
                </a:solidFill>
                <a:latin typeface="Adwaita Sans"/>
                <a:ea typeface="Adwaita Sans"/>
                <a:cs typeface="Adwaita Sans"/>
              </a:defRPr>
            </a:pPr>
            <a:r>
              <a:rPr sz="3300" b="1">
                <a:solidFill>
                  <a:srgbClr val="168D70"/>
                </a:solidFill>
                <a:latin typeface="Adwaita Sans"/>
                <a:ea typeface="Adwaita Sans"/>
                <a:cs typeface="Adwaita Sans"/>
              </a:rPr>
              <a:t>01</a:t>
            </a:r>
          </a:p>
        </p:txBody>
      </p:sp>
      <p:sp>
        <p:nvSpPr>
          <p:cNvPr id="5" name="">
            <a:extLst xmlns:a="http://schemas.openxmlformats.org/drawingml/2006/main">
              <a:ext uri="{FF2B5EF4-FFF2-40B4-BE49-F238E27FC236}">
                <a16:creationId xmlns:a16="http://schemas.microsoft.com/office/drawing/2014/main" id="{1A2E239F-AAA5-44CE-8BAC-9AFF51E848E1}"/>
              </a:ext>
            </a:extLst>
          </p:cNvPr>
          <p:cNvSpPr>
            <a:spLocks xmlns:a="http://schemas.openxmlformats.org/drawingml/2006/main" noGrp="1"/>
          </p:cNvSpPr>
          <p:nvPr/>
        </p:nvSpPr>
        <p:spPr>
          <a:xfrm xmlns:a="http://schemas.openxmlformats.org/drawingml/2006/main">
            <a:off x="609600" y="2676525"/>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143445"/>
                </a:solidFill>
                <a:latin typeface="Adwaita Sans"/>
                <a:ea typeface="Adwaita Sans"/>
                <a:cs typeface="Adwaita Sans"/>
              </a:defRPr>
            </a:pPr>
            <a:r>
              <a:rPr sz="2400" b="1">
                <a:solidFill>
                  <a:srgbClr val="143445"/>
                </a:solidFill>
                <a:latin typeface="Adwaita Sans"/>
                <a:ea typeface="Adwaita Sans"/>
                <a:cs typeface="Adwaita Sans"/>
              </a:rPr>
              <a:t>Capture</a:t>
            </a:r>
          </a:p>
        </p:txBody>
      </p:sp>
      <p:sp>
        <p:nvSpPr>
          <p:cNvPr id="6" name="">
            <a:extLst xmlns:a="http://schemas.openxmlformats.org/drawingml/2006/main">
              <a:ext uri="{FF2B5EF4-FFF2-40B4-BE49-F238E27FC236}">
                <a16:creationId xmlns:a16="http://schemas.microsoft.com/office/drawing/2014/main" id="{7E8C8B44-8A38-478F-A24C-4894CBFD72FF}"/>
              </a:ext>
            </a:extLst>
          </p:cNvPr>
          <p:cNvSpPr>
            <a:spLocks xmlns:a="http://schemas.openxmlformats.org/drawingml/2006/main" noGrp="1"/>
          </p:cNvSpPr>
          <p:nvPr/>
        </p:nvSpPr>
        <p:spPr>
          <a:xfrm xmlns:a="http://schemas.openxmlformats.org/drawingml/2006/main">
            <a:off x="609600" y="3390900"/>
            <a:ext cx="2552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Authenticated Panta reads</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Bounded catalog pages</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Detail and trade snapshots</a:t>
            </a:r>
          </a:p>
        </p:txBody>
      </p:sp>
      <p:sp>
        <p:nvSpPr>
          <p:cNvPr id="7" name="">
            <a:extLst xmlns:a="http://schemas.openxmlformats.org/drawingml/2006/main">
              <a:ext uri="{FF2B5EF4-FFF2-40B4-BE49-F238E27FC236}">
                <a16:creationId xmlns:a16="http://schemas.microsoft.com/office/drawing/2014/main" id="{B706249E-7719-4770-81C0-245703C7D2B3}"/>
              </a:ext>
            </a:extLst>
          </p:cNvPr>
          <p:cNvSpPr>
            <a:spLocks xmlns:a="http://schemas.openxmlformats.org/drawingml/2006/main" noGrp="1"/>
          </p:cNvSpPr>
          <p:nvPr/>
        </p:nvSpPr>
        <p:spPr>
          <a:xfrm xmlns:a="http://schemas.openxmlformats.org/drawingml/2006/main">
            <a:off x="3409950" y="18859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68D70"/>
                </a:solidFill>
                <a:latin typeface="Adwaita Sans"/>
                <a:ea typeface="Adwaita Sans"/>
                <a:cs typeface="Adwaita Sans"/>
              </a:defRPr>
            </a:pPr>
            <a:r>
              <a:rPr sz="3300" b="1">
                <a:solidFill>
                  <a:srgbClr val="168D70"/>
                </a:solidFill>
                <a:latin typeface="Adwaita Sans"/>
                <a:ea typeface="Adwaita Sans"/>
                <a:cs typeface="Adwaita Sans"/>
              </a:rPr>
              <a:t>02</a:t>
            </a:r>
          </a:p>
        </p:txBody>
      </p:sp>
      <p:sp>
        <p:nvSpPr>
          <p:cNvPr id="8" name="">
            <a:extLst xmlns:a="http://schemas.openxmlformats.org/drawingml/2006/main">
              <a:ext uri="{FF2B5EF4-FFF2-40B4-BE49-F238E27FC236}">
                <a16:creationId xmlns:a16="http://schemas.microsoft.com/office/drawing/2014/main" id="{5752CDD1-E220-41D6-89CB-053C786F14D5}"/>
              </a:ext>
            </a:extLst>
          </p:cNvPr>
          <p:cNvSpPr>
            <a:spLocks xmlns:a="http://schemas.openxmlformats.org/drawingml/2006/main" noGrp="1"/>
          </p:cNvSpPr>
          <p:nvPr/>
        </p:nvSpPr>
        <p:spPr>
          <a:xfrm xmlns:a="http://schemas.openxmlformats.org/drawingml/2006/main">
            <a:off x="3409950" y="2676525"/>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143445"/>
                </a:solidFill>
                <a:latin typeface="Adwaita Sans"/>
                <a:ea typeface="Adwaita Sans"/>
                <a:cs typeface="Adwaita Sans"/>
              </a:defRPr>
            </a:pPr>
            <a:r>
              <a:rPr sz="2400" b="1">
                <a:solidFill>
                  <a:srgbClr val="143445"/>
                </a:solidFill>
                <a:latin typeface="Adwaita Sans"/>
                <a:ea typeface="Adwaita Sans"/>
                <a:cs typeface="Adwaita Sans"/>
              </a:rPr>
              <a:t>Assess</a:t>
            </a:r>
          </a:p>
        </p:txBody>
      </p:sp>
      <p:sp>
        <p:nvSpPr>
          <p:cNvPr id="9" name="">
            <a:extLst xmlns:a="http://schemas.openxmlformats.org/drawingml/2006/main">
              <a:ext uri="{FF2B5EF4-FFF2-40B4-BE49-F238E27FC236}">
                <a16:creationId xmlns:a16="http://schemas.microsoft.com/office/drawing/2014/main" id="{52D99B02-BBFE-476C-A025-87C5D3794B73}"/>
              </a:ext>
            </a:extLst>
          </p:cNvPr>
          <p:cNvSpPr>
            <a:spLocks xmlns:a="http://schemas.openxmlformats.org/drawingml/2006/main" noGrp="1"/>
          </p:cNvSpPr>
          <p:nvPr/>
        </p:nvSpPr>
        <p:spPr>
          <a:xfrm xmlns:a="http://schemas.openxmlformats.org/drawingml/2006/main">
            <a:off x="3409950" y="3390900"/>
            <a:ext cx="2552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Active market and freshness</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Volume and recent activity</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Price-complement checks</a:t>
            </a:r>
          </a:p>
        </p:txBody>
      </p:sp>
      <p:sp>
        <p:nvSpPr>
          <p:cNvPr id="10" name="">
            <a:extLst xmlns:a="http://schemas.openxmlformats.org/drawingml/2006/main">
              <a:ext uri="{FF2B5EF4-FFF2-40B4-BE49-F238E27FC236}">
                <a16:creationId xmlns:a16="http://schemas.microsoft.com/office/drawing/2014/main" id="{B382A926-1708-4257-B6B8-2271248DC862}"/>
              </a:ext>
            </a:extLst>
          </p:cNvPr>
          <p:cNvSpPr>
            <a:spLocks xmlns:a="http://schemas.openxmlformats.org/drawingml/2006/main" noGrp="1"/>
          </p:cNvSpPr>
          <p:nvPr/>
        </p:nvSpPr>
        <p:spPr>
          <a:xfrm xmlns:a="http://schemas.openxmlformats.org/drawingml/2006/main">
            <a:off x="6210300" y="18859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68D70"/>
                </a:solidFill>
                <a:latin typeface="Adwaita Sans"/>
                <a:ea typeface="Adwaita Sans"/>
                <a:cs typeface="Adwaita Sans"/>
              </a:defRPr>
            </a:pPr>
            <a:r>
              <a:rPr sz="3300" b="1">
                <a:solidFill>
                  <a:srgbClr val="168D70"/>
                </a:solidFill>
                <a:latin typeface="Adwaita Sans"/>
                <a:ea typeface="Adwaita Sans"/>
                <a:cs typeface="Adwaita Sans"/>
              </a:rPr>
              <a:t>03</a:t>
            </a:r>
          </a:p>
        </p:txBody>
      </p:sp>
      <p:sp>
        <p:nvSpPr>
          <p:cNvPr id="11" name="">
            <a:extLst xmlns:a="http://schemas.openxmlformats.org/drawingml/2006/main">
              <a:ext uri="{FF2B5EF4-FFF2-40B4-BE49-F238E27FC236}">
                <a16:creationId xmlns:a16="http://schemas.microsoft.com/office/drawing/2014/main" id="{BDE591DB-F6C9-434D-ACB5-B12F2A1786D8}"/>
              </a:ext>
            </a:extLst>
          </p:cNvPr>
          <p:cNvSpPr>
            <a:spLocks xmlns:a="http://schemas.openxmlformats.org/drawingml/2006/main" noGrp="1"/>
          </p:cNvSpPr>
          <p:nvPr/>
        </p:nvSpPr>
        <p:spPr>
          <a:xfrm xmlns:a="http://schemas.openxmlformats.org/drawingml/2006/main">
            <a:off x="6210300" y="2676525"/>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143445"/>
                </a:solidFill>
                <a:latin typeface="Adwaita Sans"/>
                <a:ea typeface="Adwaita Sans"/>
                <a:cs typeface="Adwaita Sans"/>
              </a:defRPr>
            </a:pPr>
            <a:r>
              <a:rPr sz="2400" b="1">
                <a:solidFill>
                  <a:srgbClr val="143445"/>
                </a:solidFill>
                <a:latin typeface="Adwaita Sans"/>
                <a:ea typeface="Adwaita Sans"/>
                <a:cs typeface="Adwaita Sans"/>
              </a:rPr>
              <a:t>Simulate</a:t>
            </a:r>
          </a:p>
        </p:txBody>
      </p:sp>
      <p:sp>
        <p:nvSpPr>
          <p:cNvPr id="12" name="">
            <a:extLst xmlns:a="http://schemas.openxmlformats.org/drawingml/2006/main">
              <a:ext uri="{FF2B5EF4-FFF2-40B4-BE49-F238E27FC236}">
                <a16:creationId xmlns:a16="http://schemas.microsoft.com/office/drawing/2014/main" id="{3351C1EB-E1E1-451C-994C-C804A164B4A4}"/>
              </a:ext>
            </a:extLst>
          </p:cNvPr>
          <p:cNvSpPr>
            <a:spLocks xmlns:a="http://schemas.openxmlformats.org/drawingml/2006/main" noGrp="1"/>
          </p:cNvSpPr>
          <p:nvPr/>
        </p:nvSpPr>
        <p:spPr>
          <a:xfrm xmlns:a="http://schemas.openxmlformats.org/drawingml/2006/main">
            <a:off x="6210300" y="3390900"/>
            <a:ext cx="2552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Official Meteora SDK 1.5.13</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Three DBC configurations</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Independent partial fills</a:t>
            </a:r>
          </a:p>
        </p:txBody>
      </p:sp>
      <p:sp>
        <p:nvSpPr>
          <p:cNvPr id="13" name="">
            <a:extLst xmlns:a="http://schemas.openxmlformats.org/drawingml/2006/main">
              <a:ext uri="{FF2B5EF4-FFF2-40B4-BE49-F238E27FC236}">
                <a16:creationId xmlns:a16="http://schemas.microsoft.com/office/drawing/2014/main" id="{7B07401B-0DFE-4533-93F8-D36AA9A39759}"/>
              </a:ext>
            </a:extLst>
          </p:cNvPr>
          <p:cNvSpPr>
            <a:spLocks xmlns:a="http://schemas.openxmlformats.org/drawingml/2006/main" noGrp="1"/>
          </p:cNvSpPr>
          <p:nvPr/>
        </p:nvSpPr>
        <p:spPr>
          <a:xfrm xmlns:a="http://schemas.openxmlformats.org/drawingml/2006/main">
            <a:off x="9010650" y="18859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68D70"/>
                </a:solidFill>
                <a:latin typeface="Adwaita Sans"/>
                <a:ea typeface="Adwaita Sans"/>
                <a:cs typeface="Adwaita Sans"/>
              </a:defRPr>
            </a:pPr>
            <a:r>
              <a:rPr sz="3300" b="1">
                <a:solidFill>
                  <a:srgbClr val="168D70"/>
                </a:solidFill>
                <a:latin typeface="Adwaita Sans"/>
                <a:ea typeface="Adwaita Sans"/>
                <a:cs typeface="Adwaita Sans"/>
              </a:rPr>
              <a:t>04</a:t>
            </a:r>
          </a:p>
        </p:txBody>
      </p:sp>
      <p:sp>
        <p:nvSpPr>
          <p:cNvPr id="14" name="">
            <a:extLst xmlns:a="http://schemas.openxmlformats.org/drawingml/2006/main">
              <a:ext uri="{FF2B5EF4-FFF2-40B4-BE49-F238E27FC236}">
                <a16:creationId xmlns:a16="http://schemas.microsoft.com/office/drawing/2014/main" id="{DC948A23-FB4A-4CAD-8854-705FEAE1C09D}"/>
              </a:ext>
            </a:extLst>
          </p:cNvPr>
          <p:cNvSpPr>
            <a:spLocks xmlns:a="http://schemas.openxmlformats.org/drawingml/2006/main" noGrp="1"/>
          </p:cNvSpPr>
          <p:nvPr/>
        </p:nvSpPr>
        <p:spPr>
          <a:xfrm xmlns:a="http://schemas.openxmlformats.org/drawingml/2006/main">
            <a:off x="9010650" y="2676525"/>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143445"/>
                </a:solidFill>
                <a:latin typeface="Adwaita Sans"/>
                <a:ea typeface="Adwaita Sans"/>
                <a:cs typeface="Adwaita Sans"/>
              </a:defRPr>
            </a:pPr>
            <a:r>
              <a:rPr sz="2400" b="1">
                <a:solidFill>
                  <a:srgbClr val="143445"/>
                </a:solidFill>
                <a:latin typeface="Adwaita Sans"/>
                <a:ea typeface="Adwaita Sans"/>
                <a:cs typeface="Adwaita Sans"/>
              </a:rPr>
              <a:t>Export</a:t>
            </a:r>
          </a:p>
        </p:txBody>
      </p:sp>
      <p:sp>
        <p:nvSpPr>
          <p:cNvPr id="15" name="">
            <a:extLst xmlns:a="http://schemas.openxmlformats.org/drawingml/2006/main">
              <a:ext uri="{FF2B5EF4-FFF2-40B4-BE49-F238E27FC236}">
                <a16:creationId xmlns:a16="http://schemas.microsoft.com/office/drawing/2014/main" id="{92A4FEB3-004B-439F-91CD-F648ADD4E49D}"/>
              </a:ext>
            </a:extLst>
          </p:cNvPr>
          <p:cNvSpPr>
            <a:spLocks xmlns:a="http://schemas.openxmlformats.org/drawingml/2006/main" noGrp="1"/>
          </p:cNvSpPr>
          <p:nvPr/>
        </p:nvSpPr>
        <p:spPr>
          <a:xfrm xmlns:a="http://schemas.openxmlformats.org/drawingml/2006/main">
            <a:off x="9010650" y="3390900"/>
            <a:ext cx="2552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HTML and quote CSV</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Inputs and configurations</a:t>
            </a:r>
          </a:p>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Replayable JSON report</a:t>
            </a:r>
          </a:p>
        </p:txBody>
      </p:sp>
      <p:sp>
        <p:nvSpPr>
          <p:cNvPr id="16" name="">
            <a:extLst xmlns:a="http://schemas.openxmlformats.org/drawingml/2006/main">
              <a:ext uri="{FF2B5EF4-FFF2-40B4-BE49-F238E27FC236}">
                <a16:creationId xmlns:a16="http://schemas.microsoft.com/office/drawing/2014/main" id="{B8AE8BFB-D3F3-4D2D-B83E-F8F400B07DD3}"/>
              </a:ext>
            </a:extLst>
          </p:cNvPr>
          <p:cNvSpPr>
            <a:spLocks xmlns:a="http://schemas.openxmlformats.org/drawingml/2006/main" noGrp="1"/>
          </p:cNvSpPr>
          <p:nvPr/>
        </p:nvSpPr>
        <p:spPr>
          <a:xfrm xmlns:a="http://schemas.openxmlformats.org/drawingml/2006/main">
            <a:off x="609600" y="52959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43445"/>
                </a:solidFill>
                <a:latin typeface="Adwaita Sans"/>
                <a:ea typeface="Adwaita Sans"/>
                <a:cs typeface="Adwaita Sans"/>
              </a:defRPr>
            </a:pPr>
            <a:r>
              <a:rPr sz="2025" b="1">
                <a:solidFill>
                  <a:srgbClr val="143445"/>
                </a:solidFill>
                <a:latin typeface="Adwaita Sans"/>
                <a:ea typeface="Adwaita Sans"/>
                <a:cs typeface="Adwaita Sans"/>
              </a:rPr>
              <a:t>Every quote starts from the same empty pool. Simulation ends at migration.</a:t>
            </a:r>
          </a:p>
        </p:txBody>
      </p:sp>
    </p:spTree>
    <p:extLst>
      <p:ext uri="{BB962C8B-B14F-4D97-AF65-F5344CB8AC3E}">
        <p14:creationId xmlns:p14="http://schemas.microsoft.com/office/powerpoint/2010/main" val="10521054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D54A20-01C2-425B-8EC4-BA48E1A85C0B}"/>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43445"/>
                </a:solidFill>
                <a:latin typeface="Adwaita Sans"/>
                <a:ea typeface="Adwaita Sans"/>
                <a:cs typeface="Adwaita Sans"/>
              </a:defRPr>
            </a:pPr>
            <a:r>
              <a:rPr sz="3300" b="1">
                <a:solidFill>
                  <a:srgbClr val="143445"/>
                </a:solidFill>
                <a:latin typeface="Adwaita Sans"/>
                <a:ea typeface="Adwaita Sans"/>
                <a:cs typeface="Adwaita Sans"/>
              </a:rPr>
              <a:t>Curve shape changes the 40,000 USDC fill</a:t>
            </a:r>
          </a:p>
        </p:txBody>
      </p:sp>
      <p:sp>
        <p:nvSpPr>
          <p:cNvPr id="2" name="">
            <a:extLst xmlns:a="http://schemas.openxmlformats.org/drawingml/2006/main">
              <a:ext uri="{FF2B5EF4-FFF2-40B4-BE49-F238E27FC236}">
                <a16:creationId xmlns:a16="http://schemas.microsoft.com/office/drawing/2014/main" id="{D3DEDF82-9008-4BFB-8E65-E9D369AB753D}"/>
              </a:ext>
            </a:extLst>
          </p:cNvPr>
          <p:cNvSpPr>
            <a:spLocks xmlns:a="http://schemas.openxmlformats.org/drawingml/2006/main" noGrp="1"/>
          </p:cNvSpPr>
          <p:nvPr/>
        </p:nvSpPr>
        <p:spPr>
          <a:xfrm xmlns:a="http://schemas.openxmlformats.org/drawingml/2006/main">
            <a:off x="10668000" y="622935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4 / 6</a:t>
            </a:r>
          </a:p>
        </p:txBody>
      </p:sp>
      <p:sp>
        <p:nvSpPr>
          <p:cNvPr id="3" name="">
            <a:extLst xmlns:a="http://schemas.openxmlformats.org/drawingml/2006/main">
              <a:ext uri="{FF2B5EF4-FFF2-40B4-BE49-F238E27FC236}">
                <a16:creationId xmlns:a16="http://schemas.microsoft.com/office/drawing/2014/main" id="{5536E912-DA95-46FB-AC6D-77F7CE6C6F24}"/>
              </a:ext>
            </a:extLst>
          </p:cNvPr>
          <p:cNvSpPr>
            <a:spLocks xmlns:a="http://schemas.openxmlformats.org/drawingml/2006/main" noGrp="1"/>
          </p:cNvSpPr>
          <p:nvPr/>
        </p:nvSpPr>
        <p:spPr>
          <a:xfrm xmlns:a="http://schemas.openxmlformats.org/drawingml/2006/main">
            <a:off x="609600" y="62293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SignalForge</a:t>
            </a:r>
          </a:p>
        </p:txBody>
      </p:sp>
      <p:sp>
        <p:nvSpPr>
          <p:cNvPr id="4" name="">
            <a:extLst xmlns:a="http://schemas.openxmlformats.org/drawingml/2006/main">
              <a:ext uri="{FF2B5EF4-FFF2-40B4-BE49-F238E27FC236}">
                <a16:creationId xmlns:a16="http://schemas.microsoft.com/office/drawing/2014/main" id="{ADA8ECB7-B2DC-4FAD-A395-3F289F402B07}"/>
              </a:ext>
            </a:extLst>
          </p:cNvPr>
          <p:cNvSpPr>
            <a:spLocks xmlns:a="http://schemas.openxmlformats.org/drawingml/2006/main" noGrp="1"/>
          </p:cNvSpPr>
          <p:nvPr/>
        </p:nvSpPr>
        <p:spPr>
          <a:xfrm xmlns:a="http://schemas.openxmlformats.org/drawingml/2006/main">
            <a:off x="609600" y="15335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C737F"/>
                </a:solidFill>
                <a:latin typeface="Adwaita Sans"/>
                <a:ea typeface="Adwaita Sans"/>
                <a:cs typeface="Adwaita Sans"/>
              </a:defRPr>
            </a:pPr>
            <a:r>
              <a:rPr sz="1875" b="0">
                <a:solidFill>
                  <a:srgbClr val="5C737F"/>
                </a:solidFill>
                <a:latin typeface="Adwaita Sans"/>
                <a:ea typeface="Adwaita Sans"/>
                <a:cs typeface="Adwaita Sans"/>
              </a:rPr>
              <a:t>20,000 USDC initial cap   /   200,000 USDC migration cap   /   1% fixed fee</a:t>
            </a:r>
          </a:p>
        </p:txBody>
      </p:sp>
      <p:graphicFrame>
        <p:nvGraphicFramePr>
          <p:cNvPr id="11" name=""/>
          <p:cNvGraphicFramePr/>
          <p:nvPr/>
        </p:nvGraphicFramePr>
        <p:xfrm>
          <a:off xmlns:a="http://schemas.openxmlformats.org/drawingml/2006/main" x="609600" y="2457450"/>
          <a:ext xmlns:a="http://schemas.openxmlformats.org/drawingml/2006/main" cx="10972800" cy="2409825"/>
        </p:xfrm>
        <a:graphic xmlns:a="http://schemas.openxmlformats.org/drawingml/2006/main">
          <a:graphicData uri="http://schemas.openxmlformats.org/drawingml/2006/table">
            <a:tbl>
              <a:tblPr/>
              <a:tblGrid>
                <a:gridCol w="2667000"/>
                <a:gridCol w="2324100"/>
                <a:gridCol w="1962150"/>
                <a:gridCol w="2381250"/>
                <a:gridCol w="1638300"/>
              </a:tblGrid>
              <a:tr h="581025">
                <a:tc>
                  <a:txBody>
                    <a:bodyPr/>
                    <a:lstStyle/>
                    <a:p>
                      <a:r>
                        <a:rPr sz="1725" b="1">
                          <a:solidFill>
                            <a:srgbClr val="FFFFFF"/>
                          </a:solidFill>
                          <a:latin typeface="Adwaita Sans"/>
                          <a:ea typeface="Adwaita Sans"/>
                          <a:cs typeface="Adwaita Sans"/>
                        </a:rPr>
                        <a:t>Curve</a:t>
                      </a:r>
                    </a:p>
                  </a:txBody>
                  <a:tcPr marL="91440" marR="91440" marT="45720" marB="45720">
                    <a:solidFill>
                      <a:srgbClr val="102E40"/>
                    </a:solidFill>
                  </a:tcPr>
                </a:tc>
                <a:tc>
                  <a:txBody>
                    <a:bodyPr/>
                    <a:lstStyle/>
                    <a:p>
                      <a:r>
                        <a:rPr sz="1725" b="1">
                          <a:solidFill>
                            <a:srgbClr val="FFFFFF"/>
                          </a:solidFill>
                          <a:latin typeface="Adwaita Sans"/>
                          <a:ea typeface="Adwaita Sans"/>
                          <a:cs typeface="Adwaita Sans"/>
                        </a:rPr>
                        <a:t>Used USDC</a:t>
                      </a:r>
                    </a:p>
                  </a:txBody>
                  <a:tcPr marL="91440" marR="91440" marT="45720" marB="45720">
                    <a:solidFill>
                      <a:srgbClr val="102E40"/>
                    </a:solidFill>
                  </a:tcPr>
                </a:tc>
                <a:tc>
                  <a:txBody>
                    <a:bodyPr/>
                    <a:lstStyle/>
                    <a:p>
                      <a:r>
                        <a:rPr sz="1725" b="1">
                          <a:solidFill>
                            <a:srgbClr val="FFFFFF"/>
                          </a:solidFill>
                          <a:latin typeface="Adwaita Sans"/>
                          <a:ea typeface="Adwaita Sans"/>
                          <a:cs typeface="Adwaita Sans"/>
                        </a:rPr>
                        <a:t>Fee USDC</a:t>
                      </a:r>
                    </a:p>
                  </a:txBody>
                  <a:tcPr marL="91440" marR="91440" marT="45720" marB="45720">
                    <a:solidFill>
                      <a:srgbClr val="102E40"/>
                    </a:solidFill>
                  </a:tcPr>
                </a:tc>
                <a:tc>
                  <a:txBody>
                    <a:bodyPr/>
                    <a:lstStyle/>
                    <a:p>
                      <a:r>
                        <a:rPr sz="1725" b="1">
                          <a:solidFill>
                            <a:srgbClr val="FFFFFF"/>
                          </a:solidFill>
                          <a:latin typeface="Adwaita Sans"/>
                          <a:ea typeface="Adwaita Sans"/>
                          <a:cs typeface="Adwaita Sans"/>
                        </a:rPr>
                        <a:t>Unspent USDC</a:t>
                      </a:r>
                    </a:p>
                  </a:txBody>
                  <a:tcPr marL="91440" marR="91440" marT="45720" marB="45720">
                    <a:solidFill>
                      <a:srgbClr val="102E40"/>
                    </a:solidFill>
                  </a:tcPr>
                </a:tc>
                <a:tc>
                  <a:txBody>
                    <a:bodyPr/>
                    <a:lstStyle/>
                    <a:p>
                      <a:r>
                        <a:rPr sz="1725" b="1">
                          <a:solidFill>
                            <a:srgbClr val="FFFFFF"/>
                          </a:solidFill>
                          <a:latin typeface="Adwaita Sans"/>
                          <a:ea typeface="Adwaita Sans"/>
                          <a:cs typeface="Adwaita Sans"/>
                        </a:rPr>
                        <a:t>Migration</a:t>
                      </a:r>
                    </a:p>
                  </a:txBody>
                  <a:tcPr marL="91440" marR="91440" marT="45720" marB="45720">
                    <a:solidFill>
                      <a:srgbClr val="102E40"/>
                    </a:solidFill>
                  </a:tcPr>
                </a:tc>
              </a:tr>
              <a:tr h="609600">
                <a:tc>
                  <a:txBody>
                    <a:bodyPr/>
                    <a:lstStyle/>
                    <a:p>
                      <a:r>
                        <a:rPr sz="1800" b="0">
                          <a:solidFill>
                            <a:srgbClr val="143445"/>
                          </a:solidFill>
                          <a:latin typeface="Adwaita Sans"/>
                          <a:ea typeface="Adwaita Sans"/>
                          <a:cs typeface="Adwaita Sans"/>
                        </a:rPr>
                        <a:t>Constant liquidity</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40000</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400</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0</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82.4%</a:t>
                      </a:r>
                    </a:p>
                  </a:txBody>
                  <a:tcPr marL="91440" marR="91440" marT="45720" marB="45720">
                    <a:solidFill>
                      <a:srgbClr val="F3F6F7"/>
                    </a:solidFill>
                  </a:tcPr>
                </a:tc>
              </a:tr>
              <a:tr h="609600">
                <a:tc>
                  <a:txBody>
                    <a:bodyPr/>
                    <a:lstStyle/>
                    <a:p>
                      <a:r>
                        <a:rPr sz="1800" b="1">
                          <a:solidFill>
                            <a:srgbClr val="143445"/>
                          </a:solidFill>
                          <a:latin typeface="Adwaita Sans"/>
                          <a:ea typeface="Adwaita Sans"/>
                          <a:cs typeface="Adwaita Sans"/>
                        </a:rPr>
                        <a:t>Front-weighted liquidity</a:t>
                      </a:r>
                    </a:p>
                  </a:txBody>
                  <a:tcPr marL="91440" marR="91440" marT="45720" marB="45720">
                    <a:solidFill>
                      <a:srgbClr val="E7F4EE"/>
                    </a:solidFill>
                  </a:tcPr>
                </a:tc>
                <a:tc>
                  <a:txBody>
                    <a:bodyPr/>
                    <a:lstStyle/>
                    <a:p>
                      <a:r>
                        <a:rPr sz="1800" b="1">
                          <a:solidFill>
                            <a:srgbClr val="143445"/>
                          </a:solidFill>
                          <a:latin typeface="Adwaita Sans"/>
                          <a:ea typeface="Adwaita Sans"/>
                          <a:cs typeface="Adwaita Sans"/>
                        </a:rPr>
                        <a:t>38870.109491</a:t>
                      </a:r>
                    </a:p>
                  </a:txBody>
                  <a:tcPr marL="91440" marR="91440" marT="45720" marB="45720">
                    <a:solidFill>
                      <a:srgbClr val="E7F4EE"/>
                    </a:solidFill>
                  </a:tcPr>
                </a:tc>
                <a:tc>
                  <a:txBody>
                    <a:bodyPr/>
                    <a:lstStyle/>
                    <a:p>
                      <a:r>
                        <a:rPr sz="1800" b="1">
                          <a:solidFill>
                            <a:srgbClr val="143445"/>
                          </a:solidFill>
                          <a:latin typeface="Adwaita Sans"/>
                          <a:ea typeface="Adwaita Sans"/>
                          <a:cs typeface="Adwaita Sans"/>
                        </a:rPr>
                        <a:t>388.701095</a:t>
                      </a:r>
                    </a:p>
                  </a:txBody>
                  <a:tcPr marL="91440" marR="91440" marT="45720" marB="45720">
                    <a:solidFill>
                      <a:srgbClr val="E7F4EE"/>
                    </a:solidFill>
                  </a:tcPr>
                </a:tc>
                <a:tc>
                  <a:txBody>
                    <a:bodyPr/>
                    <a:lstStyle/>
                    <a:p>
                      <a:r>
                        <a:rPr sz="1800" b="1">
                          <a:solidFill>
                            <a:srgbClr val="143445"/>
                          </a:solidFill>
                          <a:latin typeface="Adwaita Sans"/>
                          <a:ea typeface="Adwaita Sans"/>
                          <a:cs typeface="Adwaita Sans"/>
                        </a:rPr>
                        <a:t>1129.890509</a:t>
                      </a:r>
                    </a:p>
                  </a:txBody>
                  <a:tcPr marL="91440" marR="91440" marT="45720" marB="45720">
                    <a:solidFill>
                      <a:srgbClr val="E7F4EE"/>
                    </a:solidFill>
                  </a:tcPr>
                </a:tc>
                <a:tc>
                  <a:txBody>
                    <a:bodyPr/>
                    <a:lstStyle/>
                    <a:p>
                      <a:r>
                        <a:rPr sz="1800" b="1">
                          <a:solidFill>
                            <a:srgbClr val="143445"/>
                          </a:solidFill>
                          <a:latin typeface="Adwaita Sans"/>
                          <a:ea typeface="Adwaita Sans"/>
                          <a:cs typeface="Adwaita Sans"/>
                        </a:rPr>
                        <a:t>Reached</a:t>
                      </a:r>
                    </a:p>
                  </a:txBody>
                  <a:tcPr marL="91440" marR="91440" marT="45720" marB="45720">
                    <a:solidFill>
                      <a:srgbClr val="E7F4EE"/>
                    </a:solidFill>
                  </a:tcPr>
                </a:tc>
              </a:tr>
              <a:tr h="609600">
                <a:tc>
                  <a:txBody>
                    <a:bodyPr/>
                    <a:lstStyle/>
                    <a:p>
                      <a:r>
                        <a:rPr sz="1800" b="0">
                          <a:solidFill>
                            <a:srgbClr val="143445"/>
                          </a:solidFill>
                          <a:latin typeface="Adwaita Sans"/>
                          <a:ea typeface="Adwaita Sans"/>
                          <a:cs typeface="Adwaita Sans"/>
                        </a:rPr>
                        <a:t>Back-weighted liquidity</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40000</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400</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0</a:t>
                      </a:r>
                    </a:p>
                  </a:txBody>
                  <a:tcPr marL="91440" marR="91440" marT="45720" marB="45720">
                    <a:solidFill>
                      <a:srgbClr val="F3F6F7"/>
                    </a:solidFill>
                  </a:tcPr>
                </a:tc>
                <a:tc>
                  <a:txBody>
                    <a:bodyPr/>
                    <a:lstStyle/>
                    <a:p>
                      <a:r>
                        <a:rPr sz="1800" b="0">
                          <a:solidFill>
                            <a:srgbClr val="143445"/>
                          </a:solidFill>
                          <a:latin typeface="Adwaita Sans"/>
                          <a:ea typeface="Adwaita Sans"/>
                          <a:cs typeface="Adwaita Sans"/>
                        </a:rPr>
                        <a:t>67.0%</a:t>
                      </a:r>
                    </a:p>
                  </a:txBody>
                  <a:tcPr marL="91440" marR="91440" marT="45720" marB="45720">
                    <a:solidFill>
                      <a:srgbClr val="F3F6F7"/>
                    </a:solidFill>
                  </a:tcPr>
                </a:tc>
              </a:tr>
            </a:tbl>
          </a:graphicData>
        </a:graphic>
      </p:graphicFrame>
      <p:sp>
        <p:nvSpPr>
          <p:cNvPr id="6" name="">
            <a:extLst xmlns:a="http://schemas.openxmlformats.org/drawingml/2006/main">
              <a:ext uri="{FF2B5EF4-FFF2-40B4-BE49-F238E27FC236}">
                <a16:creationId xmlns:a16="http://schemas.microsoft.com/office/drawing/2014/main" id="{FF1A8DA4-A650-4DB9-A9D8-D3DF7B0B4E4B}"/>
              </a:ext>
            </a:extLst>
          </p:cNvPr>
          <p:cNvSpPr>
            <a:spLocks xmlns:a="http://schemas.openxmlformats.org/drawingml/2006/main" noGrp="1"/>
          </p:cNvSpPr>
          <p:nvPr/>
        </p:nvSpPr>
        <p:spPr>
          <a:xfrm xmlns:a="http://schemas.openxmlformats.org/drawingml/2006/main">
            <a:off x="609600" y="52768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8D70"/>
                </a:solidFill>
                <a:latin typeface="Adwaita Sans"/>
                <a:ea typeface="Adwaita Sans"/>
                <a:cs typeface="Adwaita Sans"/>
              </a:defRPr>
            </a:pPr>
            <a:r>
              <a:rPr sz="2175" b="1">
                <a:solidFill>
                  <a:srgbClr val="168D70"/>
                </a:solidFill>
                <a:latin typeface="Adwaita Sans"/>
                <a:ea typeface="Adwaita Sans"/>
                <a:cs typeface="Adwaita Sans"/>
              </a:rPr>
              <a:t>The front-weighted profile reaches migration with 1,129.890509 USDC unused.</a:t>
            </a:r>
          </a:p>
        </p:txBody>
      </p:sp>
    </p:spTree>
    <p:extLst>
      <p:ext uri="{BB962C8B-B14F-4D97-AF65-F5344CB8AC3E}">
        <p14:creationId xmlns:p14="http://schemas.microsoft.com/office/powerpoint/2010/main" val="21057318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C27D7D-0751-44BB-9A15-2B1B8DD622B1}"/>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43445"/>
                </a:solidFill>
                <a:latin typeface="Adwaita Sans"/>
                <a:ea typeface="Adwaita Sans"/>
                <a:cs typeface="Adwaita Sans"/>
              </a:defRPr>
            </a:pPr>
            <a:r>
              <a:rPr sz="3300" b="1">
                <a:solidFill>
                  <a:srgbClr val="143445"/>
                </a:solidFill>
                <a:latin typeface="Adwaita Sans"/>
                <a:ea typeface="Adwaita Sans"/>
                <a:cs typeface="Adwaita Sans"/>
              </a:rPr>
              <a:t>A reviewer can reproduce every result</a:t>
            </a:r>
          </a:p>
        </p:txBody>
      </p:sp>
      <p:sp>
        <p:nvSpPr>
          <p:cNvPr id="2" name="">
            <a:extLst xmlns:a="http://schemas.openxmlformats.org/drawingml/2006/main">
              <a:ext uri="{FF2B5EF4-FFF2-40B4-BE49-F238E27FC236}">
                <a16:creationId xmlns:a16="http://schemas.microsoft.com/office/drawing/2014/main" id="{4FA52AE0-E7CA-4F93-B57A-545E23E566DC}"/>
              </a:ext>
            </a:extLst>
          </p:cNvPr>
          <p:cNvSpPr>
            <a:spLocks xmlns:a="http://schemas.openxmlformats.org/drawingml/2006/main" noGrp="1"/>
          </p:cNvSpPr>
          <p:nvPr/>
        </p:nvSpPr>
        <p:spPr>
          <a:xfrm xmlns:a="http://schemas.openxmlformats.org/drawingml/2006/main">
            <a:off x="10668000" y="622935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5 / 6</a:t>
            </a:r>
          </a:p>
        </p:txBody>
      </p:sp>
      <p:sp>
        <p:nvSpPr>
          <p:cNvPr id="3" name="">
            <a:extLst xmlns:a="http://schemas.openxmlformats.org/drawingml/2006/main">
              <a:ext uri="{FF2B5EF4-FFF2-40B4-BE49-F238E27FC236}">
                <a16:creationId xmlns:a16="http://schemas.microsoft.com/office/drawing/2014/main" id="{242DD047-F8B1-45EB-85C7-F0A5F0904320}"/>
              </a:ext>
            </a:extLst>
          </p:cNvPr>
          <p:cNvSpPr>
            <a:spLocks xmlns:a="http://schemas.openxmlformats.org/drawingml/2006/main" noGrp="1"/>
          </p:cNvSpPr>
          <p:nvPr/>
        </p:nvSpPr>
        <p:spPr>
          <a:xfrm xmlns:a="http://schemas.openxmlformats.org/drawingml/2006/main">
            <a:off x="609600" y="62293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737F"/>
                </a:solidFill>
                <a:latin typeface="Adwaita Sans"/>
                <a:ea typeface="Adwaita Sans"/>
                <a:cs typeface="Adwaita Sans"/>
              </a:defRPr>
            </a:pPr>
            <a:r>
              <a:rPr sz="1350" b="0">
                <a:solidFill>
                  <a:srgbClr val="5C737F"/>
                </a:solidFill>
                <a:latin typeface="Adwaita Sans"/>
                <a:ea typeface="Adwaita Sans"/>
                <a:cs typeface="Adwaita Sans"/>
              </a:rPr>
              <a:t>SignalForge</a:t>
            </a:r>
          </a:p>
        </p:txBody>
      </p:sp>
      <p:sp>
        <p:nvSpPr>
          <p:cNvPr id="4" name="">
            <a:extLst xmlns:a="http://schemas.openxmlformats.org/drawingml/2006/main">
              <a:ext uri="{FF2B5EF4-FFF2-40B4-BE49-F238E27FC236}">
                <a16:creationId xmlns:a16="http://schemas.microsoft.com/office/drawing/2014/main" id="{D598944A-45EF-4771-A0CA-7A519251EEFA}"/>
              </a:ext>
            </a:extLst>
          </p:cNvPr>
          <p:cNvSpPr>
            <a:spLocks xmlns:a="http://schemas.openxmlformats.org/drawingml/2006/main" noGrp="1"/>
          </p:cNvSpPr>
          <p:nvPr/>
        </p:nvSpPr>
        <p:spPr>
          <a:xfrm xmlns:a="http://schemas.openxmlformats.org/drawingml/2006/main">
            <a:off x="609600" y="1771650"/>
            <a:ext cx="309562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300" b="1">
                <a:solidFill>
                  <a:srgbClr val="168D70"/>
                </a:solidFill>
                <a:latin typeface="Adwaita Sans"/>
                <a:ea typeface="Adwaita Sans"/>
                <a:cs typeface="Adwaita Sans"/>
              </a:defRPr>
            </a:pPr>
            <a:r>
              <a:rPr sz="9300" b="1">
                <a:solidFill>
                  <a:srgbClr val="168D70"/>
                </a:solidFill>
                <a:latin typeface="Adwaita Sans"/>
                <a:ea typeface="Adwaita Sans"/>
                <a:cs typeface="Adwaita Sans"/>
              </a:rPr>
              <a:t>23</a:t>
            </a:r>
          </a:p>
        </p:txBody>
      </p:sp>
      <p:sp>
        <p:nvSpPr>
          <p:cNvPr id="5" name="">
            <a:extLst xmlns:a="http://schemas.openxmlformats.org/drawingml/2006/main">
              <a:ext uri="{FF2B5EF4-FFF2-40B4-BE49-F238E27FC236}">
                <a16:creationId xmlns:a16="http://schemas.microsoft.com/office/drawing/2014/main" id="{C055E61F-9DA7-4A7D-9A2B-413121DDE9EB}"/>
              </a:ext>
            </a:extLst>
          </p:cNvPr>
          <p:cNvSpPr>
            <a:spLocks xmlns:a="http://schemas.openxmlformats.org/drawingml/2006/main" noGrp="1"/>
          </p:cNvSpPr>
          <p:nvPr/>
        </p:nvSpPr>
        <p:spPr>
          <a:xfrm xmlns:a="http://schemas.openxmlformats.org/drawingml/2006/main">
            <a:off x="609600" y="3438525"/>
            <a:ext cx="3095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3445"/>
                </a:solidFill>
                <a:latin typeface="Adwaita Sans"/>
                <a:ea typeface="Adwaita Sans"/>
                <a:cs typeface="Adwaita Sans"/>
              </a:defRPr>
            </a:pPr>
            <a:r>
              <a:rPr sz="2925" b="1">
                <a:solidFill>
                  <a:srgbClr val="143445"/>
                </a:solidFill>
                <a:latin typeface="Adwaita Sans"/>
                <a:ea typeface="Adwaita Sans"/>
                <a:cs typeface="Adwaita Sans"/>
              </a:rPr>
              <a:t>tests pass</a:t>
            </a:r>
          </a:p>
        </p:txBody>
      </p:sp>
      <p:sp>
        <p:nvSpPr>
          <p:cNvPr id="6" name="">
            <a:extLst xmlns:a="http://schemas.openxmlformats.org/drawingml/2006/main">
              <a:ext uri="{FF2B5EF4-FFF2-40B4-BE49-F238E27FC236}">
                <a16:creationId xmlns:a16="http://schemas.microsoft.com/office/drawing/2014/main" id="{FE74A4B8-306E-42CC-A607-4849685F3D04}"/>
              </a:ext>
            </a:extLst>
          </p:cNvPr>
          <p:cNvSpPr>
            <a:spLocks xmlns:a="http://schemas.openxmlformats.org/drawingml/2006/main" noGrp="1"/>
          </p:cNvSpPr>
          <p:nvPr/>
        </p:nvSpPr>
        <p:spPr>
          <a:xfrm xmlns:a="http://schemas.openxmlformats.org/drawingml/2006/main">
            <a:off x="4467225" y="1885950"/>
            <a:ext cx="703897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43445"/>
                </a:solidFill>
                <a:latin typeface="Adwaita Sans"/>
                <a:ea typeface="Adwaita Sans"/>
                <a:cs typeface="Adwaita Sans"/>
              </a:defRPr>
            </a:pPr>
            <a:r>
              <a:rPr sz="2250" b="0">
                <a:solidFill>
                  <a:srgbClr val="143445"/>
                </a:solidFill>
                <a:latin typeface="Adwaita Sans"/>
                <a:ea typeface="Adwaita Sans"/>
                <a:cs typeface="Adwaita Sans"/>
              </a:rPr>
              <a:t>Exact input and fee conservation</a:t>
            </a:r>
          </a:p>
          <a:p xmlns:a="http://schemas.openxmlformats.org/drawingml/2006/main">
            <a:pPr>
              <a:defRPr sz="2250" b="0">
                <a:solidFill>
                  <a:srgbClr val="143445"/>
                </a:solidFill>
                <a:latin typeface="Adwaita Sans"/>
                <a:ea typeface="Adwaita Sans"/>
                <a:cs typeface="Adwaita Sans"/>
              </a:defRPr>
            </a:pPr>
            <a:r>
              <a:rPr sz="2250" b="0">
                <a:solidFill>
                  <a:srgbClr val="143445"/>
                </a:solidFill>
                <a:latin typeface="Adwaita Sans"/>
                <a:ea typeface="Adwaita Sans"/>
                <a:cs typeface="Adwaita Sans"/>
              </a:rPr>
              <a:t>Independent integer quote check</a:t>
            </a:r>
          </a:p>
          <a:p xmlns:a="http://schemas.openxmlformats.org/drawingml/2006/main">
            <a:pPr>
              <a:defRPr sz="2250" b="0">
                <a:solidFill>
                  <a:srgbClr val="143445"/>
                </a:solidFill>
                <a:latin typeface="Adwaita Sans"/>
                <a:ea typeface="Adwaita Sans"/>
                <a:cs typeface="Adwaita Sans"/>
              </a:defRPr>
            </a:pPr>
            <a:r>
              <a:rPr sz="2250" b="0">
                <a:solidFill>
                  <a:srgbClr val="143445"/>
                </a:solidFill>
                <a:latin typeface="Adwaita Sans"/>
                <a:ea typeface="Adwaita Sans"/>
                <a:cs typeface="Adwaita Sans"/>
              </a:rPr>
              <a:t>Missing and stale evidence</a:t>
            </a:r>
          </a:p>
          <a:p xmlns:a="http://schemas.openxmlformats.org/drawingml/2006/main">
            <a:pPr>
              <a:defRPr sz="2250" b="0">
                <a:solidFill>
                  <a:srgbClr val="143445"/>
                </a:solidFill>
                <a:latin typeface="Adwaita Sans"/>
                <a:ea typeface="Adwaita Sans"/>
                <a:cs typeface="Adwaita Sans"/>
              </a:defRPr>
            </a:pPr>
            <a:r>
              <a:rPr sz="2250" b="0">
                <a:solidFill>
                  <a:srgbClr val="143445"/>
                </a:solidFill>
                <a:latin typeface="Adwaita Sans"/>
                <a:ea typeface="Adwaita Sans"/>
                <a:cs typeface="Adwaita Sans"/>
              </a:rPr>
              <a:t>API failures and altered reports</a:t>
            </a:r>
          </a:p>
        </p:txBody>
      </p:sp>
      <p:sp>
        <p:nvSpPr>
          <p:cNvPr id="7" name="">
            <a:extLst xmlns:a="http://schemas.openxmlformats.org/drawingml/2006/main">
              <a:ext uri="{FF2B5EF4-FFF2-40B4-BE49-F238E27FC236}">
                <a16:creationId xmlns:a16="http://schemas.microsoft.com/office/drawing/2014/main" id="{AD712EA8-2EED-4DFE-BC06-A0AC53F21B67}"/>
              </a:ext>
            </a:extLst>
          </p:cNvPr>
          <p:cNvSpPr>
            <a:spLocks xmlns:a="http://schemas.openxmlformats.org/drawingml/2006/main" noGrp="1"/>
          </p:cNvSpPr>
          <p:nvPr/>
        </p:nvSpPr>
        <p:spPr>
          <a:xfrm xmlns:a="http://schemas.openxmlformats.org/drawingml/2006/main">
            <a:off x="609600" y="4495800"/>
            <a:ext cx="309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5C737F"/>
                </a:solidFill>
                <a:latin typeface="Adwaita Sans"/>
                <a:ea typeface="Adwaita Sans"/>
                <a:cs typeface="Adwaita Sans"/>
              </a:defRPr>
            </a:pPr>
            <a:r>
              <a:rPr sz="1950" b="0">
                <a:solidFill>
                  <a:srgbClr val="5C737F"/>
                </a:solidFill>
                <a:latin typeface="Adwaita Sans"/>
                <a:ea typeface="Adwaita Sans"/>
                <a:cs typeface="Adwaita Sans"/>
              </a:rPr>
              <a:t>npm ci</a:t>
            </a:r>
          </a:p>
          <a:p xmlns:a="http://schemas.openxmlformats.org/drawingml/2006/main">
            <a:pPr>
              <a:defRPr sz="1950" b="0">
                <a:solidFill>
                  <a:srgbClr val="5C737F"/>
                </a:solidFill>
                <a:latin typeface="Adwaita Sans"/>
                <a:ea typeface="Adwaita Sans"/>
                <a:cs typeface="Adwaita Sans"/>
              </a:defRPr>
            </a:pPr>
            <a:r>
              <a:rPr sz="1950" b="0">
                <a:solidFill>
                  <a:srgbClr val="5C737F"/>
                </a:solidFill>
                <a:latin typeface="Adwaita Sans"/>
                <a:ea typeface="Adwaita Sans"/>
                <a:cs typeface="Adwaita Sans"/>
              </a:rPr>
              <a:t>npm test</a:t>
            </a:r>
          </a:p>
          <a:p xmlns:a="http://schemas.openxmlformats.org/drawingml/2006/main">
            <a:pPr>
              <a:defRPr sz="1950" b="0">
                <a:solidFill>
                  <a:srgbClr val="5C737F"/>
                </a:solidFill>
                <a:latin typeface="Adwaita Sans"/>
                <a:ea typeface="Adwaita Sans"/>
                <a:cs typeface="Adwaita Sans"/>
              </a:defRPr>
            </a:pPr>
            <a:r>
              <a:rPr sz="1950" b="0">
                <a:solidFill>
                  <a:srgbClr val="5C737F"/>
                </a:solidFill>
                <a:latin typeface="Adwaita Sans"/>
                <a:ea typeface="Adwaita Sans"/>
                <a:cs typeface="Adwaita Sans"/>
              </a:rPr>
              <a:t>npm run demo</a:t>
            </a:r>
          </a:p>
        </p:txBody>
      </p:sp>
      <p:sp>
        <p:nvSpPr>
          <p:cNvPr id="8" name="">
            <a:extLst xmlns:a="http://schemas.openxmlformats.org/drawingml/2006/main">
              <a:ext uri="{FF2B5EF4-FFF2-40B4-BE49-F238E27FC236}">
                <a16:creationId xmlns:a16="http://schemas.microsoft.com/office/drawing/2014/main" id="{B6FDDD27-B190-456D-9EA5-56D3824E24F6}"/>
              </a:ext>
            </a:extLst>
          </p:cNvPr>
          <p:cNvSpPr>
            <a:spLocks xmlns:a="http://schemas.openxmlformats.org/drawingml/2006/main" noGrp="1"/>
          </p:cNvSpPr>
          <p:nvPr/>
        </p:nvSpPr>
        <p:spPr>
          <a:xfrm xmlns:a="http://schemas.openxmlformats.org/drawingml/2006/main">
            <a:off x="4467225" y="4495800"/>
            <a:ext cx="68865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8D70"/>
                </a:solidFill>
                <a:latin typeface="Adwaita Sans"/>
                <a:ea typeface="Adwaita Sans"/>
                <a:cs typeface="Adwaita Sans"/>
              </a:defRPr>
            </a:pPr>
            <a:r>
              <a:rPr sz="2175" b="1">
                <a:solidFill>
                  <a:srgbClr val="168D70"/>
                </a:solidFill>
                <a:latin typeface="Adwaita Sans"/>
                <a:ea typeface="Adwaita Sans"/>
                <a:cs typeface="Adwaita Sans"/>
              </a:rPr>
              <a:t>Full replay matches the saved report.</a:t>
            </a:r>
          </a:p>
          <a:p xmlns:a="http://schemas.openxmlformats.org/drawingml/2006/main">
            <a:pPr>
              <a:defRPr sz="2175" b="1">
                <a:solidFill>
                  <a:srgbClr val="168D70"/>
                </a:solidFill>
                <a:latin typeface="Adwaita Sans"/>
                <a:ea typeface="Adwaita Sans"/>
                <a:cs typeface="Adwaita Sans"/>
              </a:defRPr>
            </a:pPr>
            <a:r>
              <a:rPr sz="2175" b="1">
                <a:solidFill>
                  <a:srgbClr val="168D70"/>
                </a:solidFill>
                <a:latin typeface="Adwaita Sans"/>
                <a:ea typeface="Adwaita Sans"/>
                <a:cs typeface="Adwaita Sans"/>
              </a:rPr>
              <a:t>Browser checks cover charts and scenario details.</a:t>
            </a:r>
          </a:p>
        </p:txBody>
      </p:sp>
    </p:spTree>
    <p:extLst>
      <p:ext uri="{BB962C8B-B14F-4D97-AF65-F5344CB8AC3E}">
        <p14:creationId xmlns:p14="http://schemas.microsoft.com/office/powerpoint/2010/main" val="1590060859"/>
      </p:ext>
    </p:extLst>
  </p:cSld>
</p:sld>
</file>

<file path=ppt/slides/slide6.xml><?xml version="1.0" encoding="utf-8"?>
<p:sld xmlns:p="http://schemas.openxmlformats.org/presentationml/2006/main">
  <p:cSld>
    <p:bg>
      <p:bgPr>
        <a:solidFill xmlns:a="http://schemas.openxmlformats.org/drawingml/2006/main">
          <a:srgbClr val="102E4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90E943-8B1F-408F-9713-6DA59FD7F02A}"/>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FFFFFF"/>
                </a:solidFill>
                <a:latin typeface="Adwaita Sans"/>
                <a:ea typeface="Adwaita Sans"/>
                <a:cs typeface="Adwaita Sans"/>
              </a:defRPr>
            </a:pPr>
            <a:r>
              <a:rPr sz="3300" b="1">
                <a:solidFill>
                  <a:srgbClr val="FFFFFF"/>
                </a:solidFill>
                <a:latin typeface="Adwaita Sans"/>
                <a:ea typeface="Adwaita Sans"/>
                <a:cs typeface="Adwaita Sans"/>
              </a:rPr>
              <a:t>Next proof and entry requirements</a:t>
            </a:r>
          </a:p>
        </p:txBody>
      </p:sp>
      <p:sp>
        <p:nvSpPr>
          <p:cNvPr id="2" name="">
            <a:extLst xmlns:a="http://schemas.openxmlformats.org/drawingml/2006/main">
              <a:ext uri="{FF2B5EF4-FFF2-40B4-BE49-F238E27FC236}">
                <a16:creationId xmlns:a16="http://schemas.microsoft.com/office/drawing/2014/main" id="{B0B57327-C113-459C-AC26-03C6DEC3F16F}"/>
              </a:ext>
            </a:extLst>
          </p:cNvPr>
          <p:cNvSpPr>
            <a:spLocks xmlns:a="http://schemas.openxmlformats.org/drawingml/2006/main" noGrp="1"/>
          </p:cNvSpPr>
          <p:nvPr/>
        </p:nvSpPr>
        <p:spPr>
          <a:xfrm xmlns:a="http://schemas.openxmlformats.org/drawingml/2006/main">
            <a:off x="10668000" y="622935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A8BDC8"/>
                </a:solidFill>
                <a:latin typeface="Adwaita Sans"/>
                <a:ea typeface="Adwaita Sans"/>
                <a:cs typeface="Adwaita Sans"/>
              </a:defRPr>
            </a:pPr>
            <a:r>
              <a:rPr sz="1350" b="0">
                <a:solidFill>
                  <a:srgbClr val="A8BDC8"/>
                </a:solidFill>
                <a:latin typeface="Adwaita Sans"/>
                <a:ea typeface="Adwaita Sans"/>
                <a:cs typeface="Adwaita Sans"/>
              </a:rPr>
              <a:t>6 / 6</a:t>
            </a:r>
          </a:p>
        </p:txBody>
      </p:sp>
      <p:sp>
        <p:nvSpPr>
          <p:cNvPr id="3" name="">
            <a:extLst xmlns:a="http://schemas.openxmlformats.org/drawingml/2006/main">
              <a:ext uri="{FF2B5EF4-FFF2-40B4-BE49-F238E27FC236}">
                <a16:creationId xmlns:a16="http://schemas.microsoft.com/office/drawing/2014/main" id="{0906F179-BCB1-423F-A9CB-A414CE56A57C}"/>
              </a:ext>
            </a:extLst>
          </p:cNvPr>
          <p:cNvSpPr>
            <a:spLocks xmlns:a="http://schemas.openxmlformats.org/drawingml/2006/main" noGrp="1"/>
          </p:cNvSpPr>
          <p:nvPr/>
        </p:nvSpPr>
        <p:spPr>
          <a:xfrm xmlns:a="http://schemas.openxmlformats.org/drawingml/2006/main">
            <a:off x="609600" y="62293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A8BDC8"/>
                </a:solidFill>
                <a:latin typeface="Adwaita Sans"/>
                <a:ea typeface="Adwaita Sans"/>
                <a:cs typeface="Adwaita Sans"/>
              </a:defRPr>
            </a:pPr>
            <a:r>
              <a:rPr sz="1350" b="0">
                <a:solidFill>
                  <a:srgbClr val="A8BDC8"/>
                </a:solidFill>
                <a:latin typeface="Adwaita Sans"/>
                <a:ea typeface="Adwaita Sans"/>
                <a:cs typeface="Adwaita Sans"/>
              </a:rPr>
              <a:t>SignalForge</a:t>
            </a:r>
          </a:p>
        </p:txBody>
      </p:sp>
      <p:sp>
        <p:nvSpPr>
          <p:cNvPr id="4" name="">
            <a:extLst xmlns:a="http://schemas.openxmlformats.org/drawingml/2006/main">
              <a:ext uri="{FF2B5EF4-FFF2-40B4-BE49-F238E27FC236}">
                <a16:creationId xmlns:a16="http://schemas.microsoft.com/office/drawing/2014/main" id="{DBDF3C07-1801-4B6B-A511-D618E1BB7472}"/>
              </a:ext>
            </a:extLst>
          </p:cNvPr>
          <p:cNvSpPr>
            <a:spLocks xmlns:a="http://schemas.openxmlformats.org/drawingml/2006/main" noGrp="1"/>
          </p:cNvSpPr>
          <p:nvPr/>
        </p:nvSpPr>
        <p:spPr>
          <a:xfrm xmlns:a="http://schemas.openxmlformats.org/drawingml/2006/main">
            <a:off x="609600" y="18478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6CDBB6"/>
                </a:solidFill>
                <a:latin typeface="Adwaita Sans"/>
                <a:ea typeface="Adwaita Sans"/>
                <a:cs typeface="Adwaita Sans"/>
              </a:defRPr>
            </a:pPr>
            <a:r>
              <a:rPr sz="2175" b="1">
                <a:solidFill>
                  <a:srgbClr val="6CDBB6"/>
                </a:solidFill>
                <a:latin typeface="Adwaita Sans"/>
                <a:ea typeface="Adwaita Sans"/>
                <a:cs typeface="Adwaita Sans"/>
              </a:rPr>
              <a:t>Live Panta evidence</a:t>
            </a:r>
          </a:p>
        </p:txBody>
      </p:sp>
      <p:sp>
        <p:nvSpPr>
          <p:cNvPr id="5" name="">
            <a:extLst xmlns:a="http://schemas.openxmlformats.org/drawingml/2006/main">
              <a:ext uri="{FF2B5EF4-FFF2-40B4-BE49-F238E27FC236}">
                <a16:creationId xmlns:a16="http://schemas.microsoft.com/office/drawing/2014/main" id="{9F76079D-9EED-478A-A7C7-BFF8F13825FC}"/>
              </a:ext>
            </a:extLst>
          </p:cNvPr>
          <p:cNvSpPr>
            <a:spLocks xmlns:a="http://schemas.openxmlformats.org/drawingml/2006/main" noGrp="1"/>
          </p:cNvSpPr>
          <p:nvPr/>
        </p:nvSpPr>
        <p:spPr>
          <a:xfrm xmlns:a="http://schemas.openxmlformats.org/drawingml/2006/main">
            <a:off x="4114800" y="1847850"/>
            <a:ext cx="7467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FFFFF"/>
                </a:solidFill>
                <a:latin typeface="Adwaita Sans"/>
                <a:ea typeface="Adwaita Sans"/>
                <a:cs typeface="Adwaita Sans"/>
              </a:defRPr>
            </a:pPr>
            <a:r>
              <a:rPr sz="2175" b="0">
                <a:solidFill>
                  <a:srgbClr val="FFFFFF"/>
                </a:solidFill>
                <a:latin typeface="Adwaita Sans"/>
                <a:ea typeface="Adwaita Sans"/>
                <a:cs typeface="Adwaita Sans"/>
              </a:rPr>
              <a:t>An authorized key, relevant market and fresh capture</a:t>
            </a:r>
          </a:p>
        </p:txBody>
      </p:sp>
      <p:sp>
        <p:nvSpPr>
          <p:cNvPr id="6" name="">
            <a:extLst xmlns:a="http://schemas.openxmlformats.org/drawingml/2006/main">
              <a:ext uri="{FF2B5EF4-FFF2-40B4-BE49-F238E27FC236}">
                <a16:creationId xmlns:a16="http://schemas.microsoft.com/office/drawing/2014/main" id="{27612C66-3458-4B76-AA43-1C93A97E3E84}"/>
              </a:ext>
            </a:extLst>
          </p:cNvPr>
          <p:cNvSpPr>
            <a:spLocks xmlns:a="http://schemas.openxmlformats.org/drawingml/2006/main" noGrp="1"/>
          </p:cNvSpPr>
          <p:nvPr/>
        </p:nvSpPr>
        <p:spPr>
          <a:xfrm xmlns:a="http://schemas.openxmlformats.org/drawingml/2006/main">
            <a:off x="609600" y="29813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6CDBB6"/>
                </a:solidFill>
                <a:latin typeface="Adwaita Sans"/>
                <a:ea typeface="Adwaita Sans"/>
                <a:cs typeface="Adwaita Sans"/>
              </a:defRPr>
            </a:pPr>
            <a:r>
              <a:rPr sz="2175" b="1">
                <a:solidFill>
                  <a:srgbClr val="6CDBB6"/>
                </a:solidFill>
                <a:latin typeface="Adwaita Sans"/>
                <a:ea typeface="Adwaita Sans"/>
                <a:cs typeface="Adwaita Sans"/>
              </a:rPr>
              <a:t>Human entry</a:t>
            </a:r>
          </a:p>
        </p:txBody>
      </p:sp>
      <p:sp>
        <p:nvSpPr>
          <p:cNvPr id="7" name="">
            <a:extLst xmlns:a="http://schemas.openxmlformats.org/drawingml/2006/main">
              <a:ext uri="{FF2B5EF4-FFF2-40B4-BE49-F238E27FC236}">
                <a16:creationId xmlns:a16="http://schemas.microsoft.com/office/drawing/2014/main" id="{773A2542-7B01-4267-80E4-E86FF79E0B7C}"/>
              </a:ext>
            </a:extLst>
          </p:cNvPr>
          <p:cNvSpPr>
            <a:spLocks xmlns:a="http://schemas.openxmlformats.org/drawingml/2006/main" noGrp="1"/>
          </p:cNvSpPr>
          <p:nvPr/>
        </p:nvSpPr>
        <p:spPr>
          <a:xfrm xmlns:a="http://schemas.openxmlformats.org/drawingml/2006/main">
            <a:off x="4114800" y="2981325"/>
            <a:ext cx="7467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FFFFF"/>
                </a:solidFill>
                <a:latin typeface="Adwaita Sans"/>
                <a:ea typeface="Adwaita Sans"/>
                <a:cs typeface="Adwaita Sans"/>
              </a:defRPr>
            </a:pPr>
            <a:r>
              <a:rPr sz="2175" b="0">
                <a:solidFill>
                  <a:srgbClr val="FFFFFF"/>
                </a:solidFill>
                <a:latin typeface="Adwaita Sans"/>
                <a:ea typeface="Adwaita Sans"/>
                <a:cs typeface="Adwaita Sans"/>
              </a:rPr>
              <a:t>Eligibility review, registration and official submissions</a:t>
            </a:r>
          </a:p>
        </p:txBody>
      </p:sp>
      <p:sp>
        <p:nvSpPr>
          <p:cNvPr id="8" name="">
            <a:extLst xmlns:a="http://schemas.openxmlformats.org/drawingml/2006/main">
              <a:ext uri="{FF2B5EF4-FFF2-40B4-BE49-F238E27FC236}">
                <a16:creationId xmlns:a16="http://schemas.microsoft.com/office/drawing/2014/main" id="{9EF22AFE-34B5-4084-A9B3-8CE659E1476B}"/>
              </a:ext>
            </a:extLst>
          </p:cNvPr>
          <p:cNvSpPr>
            <a:spLocks xmlns:a="http://schemas.openxmlformats.org/drawingml/2006/main" noGrp="1"/>
          </p:cNvSpPr>
          <p:nvPr/>
        </p:nvSpPr>
        <p:spPr>
          <a:xfrm xmlns:a="http://schemas.openxmlformats.org/drawingml/2006/main">
            <a:off x="609600" y="41148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6CDBB6"/>
                </a:solidFill>
                <a:latin typeface="Adwaita Sans"/>
                <a:ea typeface="Adwaita Sans"/>
                <a:cs typeface="Adwaita Sans"/>
              </a:defRPr>
            </a:pPr>
            <a:r>
              <a:rPr sz="2175" b="1">
                <a:solidFill>
                  <a:srgbClr val="6CDBB6"/>
                </a:solidFill>
                <a:latin typeface="Adwaita Sans"/>
                <a:ea typeface="Adwaita Sans"/>
                <a:cs typeface="Adwaita Sans"/>
              </a:rPr>
              <a:t>Usage evidence</a:t>
            </a:r>
          </a:p>
        </p:txBody>
      </p:sp>
      <p:sp>
        <p:nvSpPr>
          <p:cNvPr id="9" name="">
            <a:extLst xmlns:a="http://schemas.openxmlformats.org/drawingml/2006/main">
              <a:ext uri="{FF2B5EF4-FFF2-40B4-BE49-F238E27FC236}">
                <a16:creationId xmlns:a16="http://schemas.microsoft.com/office/drawing/2014/main" id="{D805AD84-5FA2-45D1-A092-B976A64152B0}"/>
              </a:ext>
            </a:extLst>
          </p:cNvPr>
          <p:cNvSpPr>
            <a:spLocks xmlns:a="http://schemas.openxmlformats.org/drawingml/2006/main" noGrp="1"/>
          </p:cNvSpPr>
          <p:nvPr/>
        </p:nvSpPr>
        <p:spPr>
          <a:xfrm xmlns:a="http://schemas.openxmlformats.org/drawingml/2006/main">
            <a:off x="4114800" y="4114800"/>
            <a:ext cx="7467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FFFFF"/>
                </a:solidFill>
                <a:latin typeface="Adwaita Sans"/>
                <a:ea typeface="Adwaita Sans"/>
                <a:cs typeface="Adwaita Sans"/>
              </a:defRPr>
            </a:pPr>
            <a:r>
              <a:rPr sz="2175" b="0">
                <a:solidFill>
                  <a:srgbClr val="FFFFFF"/>
                </a:solidFill>
                <a:latin typeface="Adwaita Sans"/>
                <a:ea typeface="Adwaita Sans"/>
                <a:cs typeface="Adwaita Sans"/>
              </a:rPr>
              <a:t>Launch-team feedback and mainnet traction remain unproven</a:t>
            </a:r>
          </a:p>
        </p:txBody>
      </p:sp>
      <p:sp>
        <p:nvSpPr>
          <p:cNvPr id="10" name="">
            <a:extLst xmlns:a="http://schemas.openxmlformats.org/drawingml/2006/main">
              <a:ext uri="{FF2B5EF4-FFF2-40B4-BE49-F238E27FC236}">
                <a16:creationId xmlns:a16="http://schemas.microsoft.com/office/drawing/2014/main" id="{2ADE302D-64BA-479E-94B3-7AFE9039BCA1}"/>
              </a:ext>
            </a:extLst>
          </p:cNvPr>
          <p:cNvSpPr>
            <a:spLocks xmlns:a="http://schemas.openxmlformats.org/drawingml/2006/main" noGrp="1"/>
          </p:cNvSpPr>
          <p:nvPr/>
        </p:nvSpPr>
        <p:spPr>
          <a:xfrm xmlns:a="http://schemas.openxmlformats.org/drawingml/2006/main">
            <a:off x="609600" y="5400675"/>
            <a:ext cx="8096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D0E2EB"/>
                </a:solidFill>
                <a:latin typeface="Adwaita Sans"/>
                <a:ea typeface="Adwaita Sans"/>
                <a:cs typeface="Adwaita Sans"/>
              </a:defRPr>
            </a:pPr>
            <a:r>
              <a:rPr sz="1725" b="0">
                <a:solidFill>
                  <a:srgbClr val="D0E2EB"/>
                </a:solidFill>
                <a:latin typeface="Adwaita Sans"/>
                <a:ea typeface="Adwaita Sans"/>
                <a:cs typeface="Adwaita Sans"/>
              </a:rPr>
              <a:t>github.com/AIVensk/signalforge</a:t>
            </a:r>
          </a:p>
          <a:p xmlns:a="http://schemas.openxmlformats.org/drawingml/2006/main">
            <a:pPr>
              <a:defRPr sz="1725" b="0">
                <a:solidFill>
                  <a:srgbClr val="D0E2EB"/>
                </a:solidFill>
                <a:latin typeface="Adwaita Sans"/>
                <a:ea typeface="Adwaita Sans"/>
                <a:cs typeface="Adwaita Sans"/>
              </a:defRPr>
            </a:pPr>
            <a:r>
              <a:rPr sz="1725" b="0">
                <a:solidFill>
                  <a:srgbClr val="D0E2EB"/>
                </a:solidFill>
                <a:latin typeface="Adwaita Sans"/>
                <a:ea typeface="Adwaita Sans"/>
                <a:cs typeface="Adwaita Sans"/>
              </a:rPr>
              <a:t>aivensk.github.io/signalforge</a:t>
            </a:r>
          </a:p>
        </p:txBody>
      </p:sp>
    </p:spTree>
    <p:extLst>
      <p:ext uri="{BB962C8B-B14F-4D97-AF65-F5344CB8AC3E}">
        <p14:creationId xmlns:p14="http://schemas.microsoft.com/office/powerpoint/2010/main" val="920453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2026-09-28T13:36:38.5670000Z</dcterms:created>
  <dcterms:modified xsi:type="dcterms:W3CDTF">2026-09-28T13:36:38.5670000Z</dcterms:modified>
</coreProperties>
</file>